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'Good Vibes'. This workshop is about using AI responsibly — specifically for Earth Observation coding workflows. We'll cover what AI is, why it matters for conservation science, and six principles for working with it safely. Then we'll get hands-on.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the basics. We're going to take about 5 minutes to frame what AI is, how we should think about it, and what it can do for us as researchers.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ChatGPT launched in November 2022 and reached 100 million users in just two months — the fastest adoption of any technology in history. Since then, the pace has been extraordinary. We've gone from novelty chatbots to multi-modal reasoning systems that can write code, analyse data, and even operate autonomously.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People tend to reach for familiar metaphors when thinking about AI. Some treat it like a colleague — expecting judgement and accountability. Others treat it like a search engine — expecting it to just look things up. The truth is it's none of these perfectly.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big use case: conceptual work. AI is genuinely useful for literature review — not as a replacement for reading papers, but for synthesising across large bodies of work, spotting gaps, and helping you think across disciplines.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use case: quantitative reasoning. Modern LLMs are surprisingly capable at mathematics — model selection advice, interpreting statistical outputs, even working through complex derivations.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here we get to today's focus: coding. AI can write code from scratch based on your descriptions, debug existing code by explaining errors and suggesting fixes, and refactor messy scripts into clean, documented, well-structured code.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Andrej Karpathy coined the term 'vibe coding' in early 2025. It describes the experience of describing what you want in natural language and letting AI write all the code. For scientific code — where policy decisions depend on correct analysis — we need to be somewhere in the responsible middle.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we've seen what AI can do. But the critical question is: how do we use these capabilities responsibly? That brings us to our six principles.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of today's framing talk. Six principles that we think every researcher should follow when using AI to write code.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 1: treat AI as an intelligence, not a search engine. It can reason — but only if you give it the right context. Tell it what satellite you're using, what region, what time period, what your scientific question is.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 2: distrust by default. This is perhaps the most important principle. AI is confidently incorrect. It will generate code that looks perfectly reasonable, uses plausible-sounding function names, and produces output — but the output might be completely wrong.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 3: verify with tests. Unit testing isn't just good software practice — when working with AI, it's essential.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 4: prioritise reporting and interpretation. If you can't explain every line of that code, you don't actually understand your analysis.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 5: engineer adversity. Don't just test the happy path — actively try to break your code.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Principle 6: maximise transparency. This is about scientific integrity. Log your prompts, use version control, record which model you used, and be honest in your methods section.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all six principles together as a checklist. You might want to take a photo of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make this concrete with real examples from Google Earth Engine. Wrong band names, incorrect scale, and misapplied reducers are exactly the kinds of bugs that Principles 2 through 5 are designed to catch.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conservation science, the stakes are real. Habitat loss estimates feed directly into protected area designations. Species models inform Red List assessments. A subtle bug in your analysis code could lead to wrong conclusions, wrong policy decisions, and ultimately harm to the species and ecosystems we're trying to protect.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the framing complete. You now have a mental model for what AI can do and six principles for using it responsibly. In the next section, we'll put this into practice.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914400" y="1371600"/>
            <a:ext cx="10058400" cy="1371600"/>
          </a:xfrm>
          <a:prstGeom prst="rect">
            <a:avLst/>
          </a:prstGeom>
          <a:noFill/>
        </p:spPr>
        <p:txBody>
          <a:bodyPr wrap="square">
            <a:spAutoFit/>
          </a:bodyPr>
          <a:lstStyle/>
          <a:p>
            <a:pPr algn="ctr">
              <a:defRPr sz="6000" b="1">
                <a:solidFill>
                  <a:srgbClr val="FFFFFF"/>
                </a:solidFill>
                <a:latin typeface="Arial"/>
              </a:defRPr>
            </a:pPr>
            <a:r>
              <a:t>Good Vibes</a:t>
            </a:r>
          </a:p>
        </p:txBody>
      </p:sp>
      <p:sp>
        <p:nvSpPr>
          <p:cNvPr id="4" name="TextBox 3"/>
          <p:cNvSpPr txBox="1"/>
          <p:nvPr/>
        </p:nvSpPr>
        <p:spPr>
          <a:xfrm>
            <a:off x="914400" y="2743200"/>
            <a:ext cx="10058400" cy="914400"/>
          </a:xfrm>
          <a:prstGeom prst="rect">
            <a:avLst/>
          </a:prstGeom>
          <a:noFill/>
        </p:spPr>
        <p:txBody>
          <a:bodyPr wrap="square">
            <a:spAutoFit/>
          </a:bodyPr>
          <a:lstStyle/>
          <a:p>
            <a:pPr algn="ctr">
              <a:defRPr sz="2400" b="0">
                <a:solidFill>
                  <a:srgbClr val="DEC6A2"/>
                </a:solidFill>
                <a:latin typeface="Arial"/>
              </a:defRPr>
            </a:pPr>
            <a:r>
              <a:t>Responsible use of AI for large-scale,</a:t>
            </a:r>
            <a:br/>
            <a:r>
              <a:t>rapid Earth Observation workflows</a:t>
            </a:r>
          </a:p>
        </p:txBody>
      </p:sp>
      <p:sp>
        <p:nvSpPr>
          <p:cNvPr id="5" name="TextBox 4"/>
          <p:cNvSpPr txBox="1"/>
          <p:nvPr/>
        </p:nvSpPr>
        <p:spPr>
          <a:xfrm>
            <a:off x="914400" y="3931920"/>
            <a:ext cx="10058400" cy="457200"/>
          </a:xfrm>
          <a:prstGeom prst="rect">
            <a:avLst/>
          </a:prstGeom>
          <a:noFill/>
        </p:spPr>
        <p:txBody>
          <a:bodyPr wrap="square">
            <a:spAutoFit/>
          </a:bodyPr>
          <a:lstStyle/>
          <a:p>
            <a:pPr algn="ctr">
              <a:defRPr sz="2000" b="0">
                <a:solidFill>
                  <a:srgbClr val="CCCCCC"/>
                </a:solidFill>
                <a:latin typeface="Arial"/>
              </a:defRPr>
            </a:pPr>
            <a:r>
              <a:t>AB  ·  HFT  ·  HH  ·  JW</a:t>
            </a:r>
          </a:p>
        </p:txBody>
      </p:sp>
      <p:sp>
        <p:nvSpPr>
          <p:cNvPr id="6" name="TextBox 5"/>
          <p:cNvSpPr txBox="1"/>
          <p:nvPr/>
        </p:nvSpPr>
        <p:spPr>
          <a:xfrm>
            <a:off x="914400" y="4389120"/>
            <a:ext cx="10058400" cy="457200"/>
          </a:xfrm>
          <a:prstGeom prst="rect">
            <a:avLst/>
          </a:prstGeom>
          <a:noFill/>
        </p:spPr>
        <p:txBody>
          <a:bodyPr wrap="square">
            <a:spAutoFit/>
          </a:bodyPr>
          <a:lstStyle/>
          <a:p>
            <a:pPr algn="ctr">
              <a:defRPr sz="1600" b="0">
                <a:solidFill>
                  <a:srgbClr val="CCCCCC"/>
                </a:solidFill>
                <a:latin typeface="Arial"/>
              </a:defRPr>
            </a:pPr>
            <a:r>
              <a:t>Institute of Zoology, Zoological Society of London</a:t>
            </a:r>
          </a:p>
        </p:txBody>
      </p:sp>
      <p:sp>
        <p:nvSpPr>
          <p:cNvPr id="7" name="TextBox 6"/>
          <p:cNvSpPr txBox="1"/>
          <p:nvPr/>
        </p:nvSpPr>
        <p:spPr>
          <a:xfrm>
            <a:off x="5029200" y="5120640"/>
            <a:ext cx="2103120" cy="457200"/>
          </a:xfrm>
          <a:prstGeom prst="rect">
            <a:avLst/>
          </a:prstGeom>
          <a:solidFill>
            <a:srgbClr val="008945"/>
          </a:solidFill>
        </p:spPr>
        <p:txBody>
          <a:bodyPr wrap="none">
            <a:spAutoFit/>
          </a:bodyPr>
          <a:lstStyle/>
          <a:p>
            <a:pPr algn="ctr">
              <a:defRPr sz="1800" b="1">
                <a:solidFill>
                  <a:srgbClr val="FFFFFF"/>
                </a:solidFill>
                <a:latin typeface="Arial"/>
              </a:defRPr>
            </a:pPr>
            <a:r>
              <a:t>ECCB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4D25"/>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914400" y="2286000"/>
            <a:ext cx="10058400" cy="1097280"/>
          </a:xfrm>
          <a:prstGeom prst="rect">
            <a:avLst/>
          </a:prstGeom>
          <a:noFill/>
        </p:spPr>
        <p:txBody>
          <a:bodyPr wrap="square">
            <a:spAutoFit/>
          </a:bodyPr>
          <a:lstStyle/>
          <a:p>
            <a:pPr algn="ctr">
              <a:defRPr sz="4800" b="1">
                <a:solidFill>
                  <a:srgbClr val="FFFFFF"/>
                </a:solidFill>
                <a:latin typeface="Arial"/>
              </a:defRPr>
            </a:pPr>
            <a:r>
              <a:t>🤖 What is AI?</a:t>
            </a:r>
          </a:p>
        </p:txBody>
      </p:sp>
      <p:sp>
        <p:nvSpPr>
          <p:cNvPr id="4" name="TextBox 3"/>
          <p:cNvSpPr txBox="1"/>
          <p:nvPr/>
        </p:nvSpPr>
        <p:spPr>
          <a:xfrm>
            <a:off x="914400" y="3474720"/>
            <a:ext cx="10058400" cy="548640"/>
          </a:xfrm>
          <a:prstGeom prst="rect">
            <a:avLst/>
          </a:prstGeom>
          <a:noFill/>
        </p:spPr>
        <p:txBody>
          <a:bodyPr wrap="square">
            <a:spAutoFit/>
          </a:bodyPr>
          <a:lstStyle/>
          <a:p>
            <a:pPr algn="ctr">
              <a:defRPr sz="2400" b="0">
                <a:solidFill>
                  <a:srgbClr val="DEC6A2"/>
                </a:solidFill>
                <a:latin typeface="Arial"/>
              </a:defRPr>
            </a:pPr>
            <a:r>
              <a:t>…and why should you care?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457200"/>
            <a:ext cx="10058400" cy="731520"/>
          </a:xfrm>
          <a:prstGeom prst="rect">
            <a:avLst/>
          </a:prstGeom>
          <a:noFill/>
        </p:spPr>
        <p:txBody>
          <a:bodyPr wrap="square">
            <a:spAutoFit/>
          </a:bodyPr>
          <a:lstStyle/>
          <a:p>
            <a:pPr algn="l">
              <a:defRPr sz="4000" b="1">
                <a:solidFill>
                  <a:srgbClr val="FFFFFF"/>
                </a:solidFill>
                <a:latin typeface="Arial"/>
              </a:defRPr>
            </a:pPr>
            <a:r>
              <a:t>The ChatGPT Moment</a:t>
            </a:r>
          </a:p>
        </p:txBody>
      </p:sp>
      <p:sp>
        <p:nvSpPr>
          <p:cNvPr id="4" name="TextBox 3"/>
          <p:cNvSpPr txBox="1"/>
          <p:nvPr/>
        </p:nvSpPr>
        <p:spPr>
          <a:xfrm>
            <a:off x="731520" y="1097280"/>
            <a:ext cx="10058400" cy="457200"/>
          </a:xfrm>
          <a:prstGeom prst="rect">
            <a:avLst/>
          </a:prstGeom>
          <a:noFill/>
        </p:spPr>
        <p:txBody>
          <a:bodyPr wrap="square">
            <a:spAutoFit/>
          </a:bodyPr>
          <a:lstStyle/>
          <a:p>
            <a:pPr algn="l">
              <a:defRPr sz="2200" b="0">
                <a:solidFill>
                  <a:srgbClr val="C7F700"/>
                </a:solidFill>
                <a:latin typeface="Arial"/>
              </a:defRPr>
            </a:pPr>
            <a:r>
              <a:t>An explosion of capability since Nov 2022</a:t>
            </a:r>
          </a:p>
        </p:txBody>
      </p:sp>
      <p:sp>
        <p:nvSpPr>
          <p:cNvPr id="5" name="TextBox 4"/>
          <p:cNvSpPr txBox="1"/>
          <p:nvPr/>
        </p:nvSpPr>
        <p:spPr>
          <a:xfrm>
            <a:off x="1371600" y="2011680"/>
            <a:ext cx="1828800" cy="365760"/>
          </a:xfrm>
          <a:prstGeom prst="rect">
            <a:avLst/>
          </a:prstGeom>
          <a:noFill/>
        </p:spPr>
        <p:txBody>
          <a:bodyPr wrap="square">
            <a:spAutoFit/>
          </a:bodyPr>
          <a:lstStyle/>
          <a:p>
            <a:pPr algn="l">
              <a:defRPr sz="1800" b="1">
                <a:solidFill>
                  <a:srgbClr val="C7F700"/>
                </a:solidFill>
                <a:latin typeface="Arial"/>
              </a:defRPr>
            </a:pPr>
            <a:r>
              <a:t>Nov 2022</a:t>
            </a:r>
          </a:p>
        </p:txBody>
      </p:sp>
      <p:sp>
        <p:nvSpPr>
          <p:cNvPr id="6" name="TextBox 5"/>
          <p:cNvSpPr txBox="1"/>
          <p:nvPr/>
        </p:nvSpPr>
        <p:spPr>
          <a:xfrm>
            <a:off x="3474720" y="2011680"/>
            <a:ext cx="7315200" cy="365760"/>
          </a:xfrm>
          <a:prstGeom prst="rect">
            <a:avLst/>
          </a:prstGeom>
          <a:noFill/>
        </p:spPr>
        <p:txBody>
          <a:bodyPr wrap="square">
            <a:spAutoFit/>
          </a:bodyPr>
          <a:lstStyle/>
          <a:p>
            <a:pPr algn="l">
              <a:defRPr sz="1700" b="0">
                <a:solidFill>
                  <a:srgbClr val="FFFFFF"/>
                </a:solidFill>
                <a:latin typeface="Arial"/>
              </a:defRPr>
            </a:pPr>
            <a:r>
              <a:t>ChatGPT launches → 100M users in 2 months</a:t>
            </a:r>
          </a:p>
        </p:txBody>
      </p:sp>
      <p:sp>
        <p:nvSpPr>
          <p:cNvPr id="7" name="TextBox 6"/>
          <p:cNvSpPr txBox="1"/>
          <p:nvPr/>
        </p:nvSpPr>
        <p:spPr>
          <a:xfrm>
            <a:off x="1371600" y="2651760"/>
            <a:ext cx="1828800" cy="365760"/>
          </a:xfrm>
          <a:prstGeom prst="rect">
            <a:avLst/>
          </a:prstGeom>
          <a:noFill/>
        </p:spPr>
        <p:txBody>
          <a:bodyPr wrap="square">
            <a:spAutoFit/>
          </a:bodyPr>
          <a:lstStyle/>
          <a:p>
            <a:pPr algn="l">
              <a:defRPr sz="1800" b="1">
                <a:solidFill>
                  <a:srgbClr val="C7F700"/>
                </a:solidFill>
                <a:latin typeface="Arial"/>
              </a:defRPr>
            </a:pPr>
            <a:r>
              <a:t>2023</a:t>
            </a:r>
          </a:p>
        </p:txBody>
      </p:sp>
      <p:sp>
        <p:nvSpPr>
          <p:cNvPr id="8" name="TextBox 7"/>
          <p:cNvSpPr txBox="1"/>
          <p:nvPr/>
        </p:nvSpPr>
        <p:spPr>
          <a:xfrm>
            <a:off x="3474720" y="2651760"/>
            <a:ext cx="7315200" cy="365760"/>
          </a:xfrm>
          <a:prstGeom prst="rect">
            <a:avLst/>
          </a:prstGeom>
          <a:noFill/>
        </p:spPr>
        <p:txBody>
          <a:bodyPr wrap="square">
            <a:spAutoFit/>
          </a:bodyPr>
          <a:lstStyle/>
          <a:p>
            <a:pPr algn="l">
              <a:defRPr sz="1700" b="0">
                <a:solidFill>
                  <a:srgbClr val="FFFFFF"/>
                </a:solidFill>
                <a:latin typeface="Arial"/>
              </a:defRPr>
            </a:pPr>
            <a:r>
              <a:t>GPT-4, Bard, Claude — multi-modal capabilities</a:t>
            </a:r>
          </a:p>
        </p:txBody>
      </p:sp>
      <p:sp>
        <p:nvSpPr>
          <p:cNvPr id="9" name="TextBox 8"/>
          <p:cNvSpPr txBox="1"/>
          <p:nvPr/>
        </p:nvSpPr>
        <p:spPr>
          <a:xfrm>
            <a:off x="1371600" y="3291840"/>
            <a:ext cx="1828800" cy="365760"/>
          </a:xfrm>
          <a:prstGeom prst="rect">
            <a:avLst/>
          </a:prstGeom>
          <a:noFill/>
        </p:spPr>
        <p:txBody>
          <a:bodyPr wrap="square">
            <a:spAutoFit/>
          </a:bodyPr>
          <a:lstStyle/>
          <a:p>
            <a:pPr algn="l">
              <a:defRPr sz="1800" b="1">
                <a:solidFill>
                  <a:srgbClr val="C7F700"/>
                </a:solidFill>
                <a:latin typeface="Arial"/>
              </a:defRPr>
            </a:pPr>
            <a:r>
              <a:t>2024</a:t>
            </a:r>
          </a:p>
        </p:txBody>
      </p:sp>
      <p:sp>
        <p:nvSpPr>
          <p:cNvPr id="10" name="TextBox 9"/>
          <p:cNvSpPr txBox="1"/>
          <p:nvPr/>
        </p:nvSpPr>
        <p:spPr>
          <a:xfrm>
            <a:off x="3474720" y="3291840"/>
            <a:ext cx="7315200" cy="365760"/>
          </a:xfrm>
          <a:prstGeom prst="rect">
            <a:avLst/>
          </a:prstGeom>
          <a:noFill/>
        </p:spPr>
        <p:txBody>
          <a:bodyPr wrap="square">
            <a:spAutoFit/>
          </a:bodyPr>
          <a:lstStyle/>
          <a:p>
            <a:pPr algn="l">
              <a:defRPr sz="1700" b="0">
                <a:solidFill>
                  <a:srgbClr val="FFFFFF"/>
                </a:solidFill>
                <a:latin typeface="Arial"/>
              </a:defRPr>
            </a:pPr>
            <a:r>
              <a:t>Reasoning models, agentic AI emerges</a:t>
            </a:r>
          </a:p>
        </p:txBody>
      </p:sp>
      <p:sp>
        <p:nvSpPr>
          <p:cNvPr id="11" name="TextBox 10"/>
          <p:cNvSpPr txBox="1"/>
          <p:nvPr/>
        </p:nvSpPr>
        <p:spPr>
          <a:xfrm>
            <a:off x="1371600" y="3931920"/>
            <a:ext cx="1828800" cy="365760"/>
          </a:xfrm>
          <a:prstGeom prst="rect">
            <a:avLst/>
          </a:prstGeom>
          <a:noFill/>
        </p:spPr>
        <p:txBody>
          <a:bodyPr wrap="square">
            <a:spAutoFit/>
          </a:bodyPr>
          <a:lstStyle/>
          <a:p>
            <a:pPr algn="l">
              <a:defRPr sz="1800" b="1">
                <a:solidFill>
                  <a:srgbClr val="C7F700"/>
                </a:solidFill>
                <a:latin typeface="Arial"/>
              </a:defRPr>
            </a:pPr>
            <a:r>
              <a:t>2025</a:t>
            </a:r>
          </a:p>
        </p:txBody>
      </p:sp>
      <p:sp>
        <p:nvSpPr>
          <p:cNvPr id="12" name="TextBox 11"/>
          <p:cNvSpPr txBox="1"/>
          <p:nvPr/>
        </p:nvSpPr>
        <p:spPr>
          <a:xfrm>
            <a:off x="3474720" y="3931920"/>
            <a:ext cx="7315200" cy="365760"/>
          </a:xfrm>
          <a:prstGeom prst="rect">
            <a:avLst/>
          </a:prstGeom>
          <a:noFill/>
        </p:spPr>
        <p:txBody>
          <a:bodyPr wrap="square">
            <a:spAutoFit/>
          </a:bodyPr>
          <a:lstStyle/>
          <a:p>
            <a:pPr algn="l">
              <a:defRPr sz="1700" b="0">
                <a:solidFill>
                  <a:srgbClr val="FFFFFF"/>
                </a:solidFill>
                <a:latin typeface="Arial"/>
              </a:defRPr>
            </a:pPr>
            <a:r>
              <a:t>AI coding agents, science-specific models</a:t>
            </a:r>
          </a:p>
        </p:txBody>
      </p:sp>
      <p:sp>
        <p:nvSpPr>
          <p:cNvPr id="13" name="TextBox 12"/>
          <p:cNvSpPr txBox="1"/>
          <p:nvPr/>
        </p:nvSpPr>
        <p:spPr>
          <a:xfrm>
            <a:off x="1371600" y="4572000"/>
            <a:ext cx="1828800" cy="365760"/>
          </a:xfrm>
          <a:prstGeom prst="rect">
            <a:avLst/>
          </a:prstGeom>
          <a:noFill/>
        </p:spPr>
        <p:txBody>
          <a:bodyPr wrap="square">
            <a:spAutoFit/>
          </a:bodyPr>
          <a:lstStyle/>
          <a:p>
            <a:pPr algn="l">
              <a:defRPr sz="1800" b="1">
                <a:solidFill>
                  <a:srgbClr val="C7F700"/>
                </a:solidFill>
                <a:latin typeface="Arial"/>
              </a:defRPr>
            </a:pPr>
            <a:r>
              <a:t>2026</a:t>
            </a:r>
          </a:p>
        </p:txBody>
      </p:sp>
      <p:sp>
        <p:nvSpPr>
          <p:cNvPr id="14" name="TextBox 13"/>
          <p:cNvSpPr txBox="1"/>
          <p:nvPr/>
        </p:nvSpPr>
        <p:spPr>
          <a:xfrm>
            <a:off x="3474720" y="4572000"/>
            <a:ext cx="7315200" cy="365760"/>
          </a:xfrm>
          <a:prstGeom prst="rect">
            <a:avLst/>
          </a:prstGeom>
          <a:noFill/>
        </p:spPr>
        <p:txBody>
          <a:bodyPr wrap="square">
            <a:spAutoFit/>
          </a:bodyPr>
          <a:lstStyle/>
          <a:p>
            <a:pPr algn="l">
              <a:defRPr sz="1700" b="0">
                <a:solidFill>
                  <a:srgbClr val="FFFFFF"/>
                </a:solidFill>
                <a:latin typeface="Arial"/>
              </a:defRPr>
            </a:pPr>
            <a:r>
              <a:t>📍 You are here — AI in conservation workflows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457200"/>
            <a:ext cx="10058400" cy="731520"/>
          </a:xfrm>
          <a:prstGeom prst="rect">
            <a:avLst/>
          </a:prstGeom>
          <a:noFill/>
        </p:spPr>
        <p:txBody>
          <a:bodyPr wrap="square">
            <a:spAutoFit/>
          </a:bodyPr>
          <a:lstStyle/>
          <a:p>
            <a:pPr algn="l">
              <a:defRPr sz="4000" b="1">
                <a:solidFill>
                  <a:srgbClr val="FFFFFF"/>
                </a:solidFill>
                <a:latin typeface="Arial"/>
              </a:defRPr>
            </a:pPr>
            <a:r>
              <a:t>How We Think About AI</a:t>
            </a:r>
          </a:p>
        </p:txBody>
      </p:sp>
      <p:sp>
        <p:nvSpPr>
          <p:cNvPr id="4" name="TextBox 3"/>
          <p:cNvSpPr txBox="1"/>
          <p:nvPr/>
        </p:nvSpPr>
        <p:spPr>
          <a:xfrm>
            <a:off x="731520" y="1097280"/>
            <a:ext cx="10058400" cy="457200"/>
          </a:xfrm>
          <a:prstGeom prst="rect">
            <a:avLst/>
          </a:prstGeom>
          <a:noFill/>
        </p:spPr>
        <p:txBody>
          <a:bodyPr wrap="square">
            <a:spAutoFit/>
          </a:bodyPr>
          <a:lstStyle/>
          <a:p>
            <a:pPr algn="l">
              <a:defRPr sz="2200" b="0">
                <a:solidFill>
                  <a:srgbClr val="C7F700"/>
                </a:solidFill>
                <a:latin typeface="Arial"/>
              </a:defRPr>
            </a:pPr>
            <a:r>
              <a:t>The metaphor spectrum</a:t>
            </a:r>
          </a:p>
        </p:txBody>
      </p:sp>
      <p:sp>
        <p:nvSpPr>
          <p:cNvPr id="5" name="TextBox 4"/>
          <p:cNvSpPr txBox="1"/>
          <p:nvPr/>
        </p:nvSpPr>
        <p:spPr>
          <a:xfrm>
            <a:off x="914400" y="2286000"/>
            <a:ext cx="2377440" cy="914400"/>
          </a:xfrm>
          <a:prstGeom prst="rect">
            <a:avLst/>
          </a:prstGeom>
          <a:solidFill>
            <a:srgbClr val="008945"/>
          </a:solidFill>
        </p:spPr>
        <p:txBody>
          <a:bodyPr wrap="none">
            <a:spAutoFit/>
          </a:bodyPr>
          <a:lstStyle/>
          <a:p>
            <a:pPr algn="ctr">
              <a:defRPr sz="2000" b="1">
                <a:solidFill>
                  <a:srgbClr val="FFFFFF"/>
                </a:solidFill>
                <a:latin typeface="Arial"/>
              </a:defRPr>
            </a:pPr>
            <a:r>
              <a:t>🧑‍🤝‍🧑  Colleague</a:t>
            </a:r>
          </a:p>
        </p:txBody>
      </p:sp>
      <p:sp>
        <p:nvSpPr>
          <p:cNvPr id="6" name="TextBox 5"/>
          <p:cNvSpPr txBox="1"/>
          <p:nvPr/>
        </p:nvSpPr>
        <p:spPr>
          <a:xfrm>
            <a:off x="3566160" y="2286000"/>
            <a:ext cx="2377440" cy="914400"/>
          </a:xfrm>
          <a:prstGeom prst="rect">
            <a:avLst/>
          </a:prstGeom>
          <a:solidFill>
            <a:srgbClr val="008945"/>
          </a:solidFill>
        </p:spPr>
        <p:txBody>
          <a:bodyPr wrap="none">
            <a:spAutoFit/>
          </a:bodyPr>
          <a:lstStyle/>
          <a:p>
            <a:pPr algn="ctr">
              <a:defRPr sz="2000" b="1">
                <a:solidFill>
                  <a:srgbClr val="FFFFFF"/>
                </a:solidFill>
                <a:latin typeface="Arial"/>
              </a:defRPr>
            </a:pPr>
            <a:r>
              <a:t>🤝  Peer</a:t>
            </a:r>
          </a:p>
        </p:txBody>
      </p:sp>
      <p:sp>
        <p:nvSpPr>
          <p:cNvPr id="7" name="TextBox 6"/>
          <p:cNvSpPr txBox="1"/>
          <p:nvPr/>
        </p:nvSpPr>
        <p:spPr>
          <a:xfrm>
            <a:off x="6217920" y="2286000"/>
            <a:ext cx="2377440" cy="914400"/>
          </a:xfrm>
          <a:prstGeom prst="rect">
            <a:avLst/>
          </a:prstGeom>
          <a:solidFill>
            <a:srgbClr val="008945"/>
          </a:solidFill>
        </p:spPr>
        <p:txBody>
          <a:bodyPr wrap="none">
            <a:spAutoFit/>
          </a:bodyPr>
          <a:lstStyle/>
          <a:p>
            <a:pPr algn="ctr">
              <a:defRPr sz="2000" b="1">
                <a:solidFill>
                  <a:srgbClr val="FFFFFF"/>
                </a:solidFill>
                <a:latin typeface="Arial"/>
              </a:defRPr>
            </a:pPr>
            <a:r>
              <a:t>🔧  Tool</a:t>
            </a:r>
          </a:p>
        </p:txBody>
      </p:sp>
      <p:sp>
        <p:nvSpPr>
          <p:cNvPr id="8" name="TextBox 7"/>
          <p:cNvSpPr txBox="1"/>
          <p:nvPr/>
        </p:nvSpPr>
        <p:spPr>
          <a:xfrm>
            <a:off x="8869680" y="2286000"/>
            <a:ext cx="2377440" cy="914400"/>
          </a:xfrm>
          <a:prstGeom prst="rect">
            <a:avLst/>
          </a:prstGeom>
          <a:solidFill>
            <a:srgbClr val="008945"/>
          </a:solidFill>
        </p:spPr>
        <p:txBody>
          <a:bodyPr wrap="none">
            <a:spAutoFit/>
          </a:bodyPr>
          <a:lstStyle/>
          <a:p>
            <a:pPr algn="ctr">
              <a:defRPr sz="2000" b="1">
                <a:solidFill>
                  <a:srgbClr val="FFFFFF"/>
                </a:solidFill>
                <a:latin typeface="Arial"/>
              </a:defRPr>
            </a:pPr>
            <a:r>
              <a:t>🔍  Search Engine</a:t>
            </a:r>
          </a:p>
        </p:txBody>
      </p:sp>
      <p:sp>
        <p:nvSpPr>
          <p:cNvPr id="9" name="TextBox 8"/>
          <p:cNvSpPr txBox="1"/>
          <p:nvPr/>
        </p:nvSpPr>
        <p:spPr>
          <a:xfrm>
            <a:off x="1371600" y="3840480"/>
            <a:ext cx="9144000" cy="1097280"/>
          </a:xfrm>
          <a:prstGeom prst="rect">
            <a:avLst/>
          </a:prstGeom>
          <a:noFill/>
        </p:spPr>
        <p:txBody>
          <a:bodyPr wrap="square">
            <a:spAutoFit/>
          </a:bodyPr>
          <a:lstStyle/>
          <a:p>
            <a:pPr algn="ctr">
              <a:defRPr sz="2000" b="1">
                <a:solidFill>
                  <a:srgbClr val="DEC6A2"/>
                </a:solidFill>
                <a:latin typeface="Arial"/>
              </a:defRPr>
            </a:pPr>
            <a:r>
              <a:t>⚠️  AI is none of these perfectly.</a:t>
            </a:r>
          </a:p>
          <a:p>
            <a:pPr algn="ctr">
              <a:spcBef>
                <a:spcPts val="600"/>
              </a:spcBef>
              <a:defRPr sz="1800" b="0">
                <a:solidFill>
                  <a:srgbClr val="CCCCCC"/>
                </a:solidFill>
                <a:latin typeface="Arial"/>
              </a:defRPr>
            </a:pPr>
            <a:r>
              <a:t>It reasons — but not like a human. It retrieves — but not like a database.</a:t>
            </a:r>
          </a:p>
          <a:p>
            <a:pPr algn="ctr">
              <a:spcBef>
                <a:spcPts val="600"/>
              </a:spcBef>
              <a:defRPr sz="1800" b="0">
                <a:solidFill>
                  <a:srgbClr val="CCCCCC"/>
                </a:solidFill>
                <a:latin typeface="Arial"/>
              </a:defRPr>
            </a:pPr>
            <a:r>
              <a:t>How you think about it shapes how you use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Arial"/>
              </a:defRPr>
            </a:pPr>
            <a:r>
              <a:t>📚  Use 1: Reviewing &amp; Conceptualisation</a:t>
            </a:r>
          </a:p>
        </p:txBody>
      </p:sp>
      <p:sp>
        <p:nvSpPr>
          <p:cNvPr id="4" name="TextBox 3"/>
          <p:cNvSpPr txBox="1"/>
          <p:nvPr/>
        </p:nvSpPr>
        <p:spPr>
          <a:xfrm>
            <a:off x="1097280" y="1828800"/>
            <a:ext cx="731520" cy="548640"/>
          </a:xfrm>
          <a:prstGeom prst="rect">
            <a:avLst/>
          </a:prstGeom>
          <a:noFill/>
        </p:spPr>
        <p:txBody>
          <a:bodyPr wrap="square">
            <a:spAutoFit/>
          </a:bodyPr>
          <a:lstStyle/>
          <a:p>
            <a:pPr algn="ctr">
              <a:defRPr sz="2800" b="0">
                <a:solidFill>
                  <a:srgbClr val="FFFFFF"/>
                </a:solidFill>
                <a:latin typeface="Arial"/>
              </a:defRPr>
            </a:pPr>
            <a:r>
              <a:t>🔬</a:t>
            </a:r>
          </a:p>
        </p:txBody>
      </p:sp>
      <p:sp>
        <p:nvSpPr>
          <p:cNvPr id="5" name="TextBox 4"/>
          <p:cNvSpPr txBox="1"/>
          <p:nvPr/>
        </p:nvSpPr>
        <p:spPr>
          <a:xfrm>
            <a:off x="2011680" y="1828800"/>
            <a:ext cx="3657600" cy="457200"/>
          </a:xfrm>
          <a:prstGeom prst="rect">
            <a:avLst/>
          </a:prstGeom>
          <a:noFill/>
        </p:spPr>
        <p:txBody>
          <a:bodyPr wrap="square">
            <a:spAutoFit/>
          </a:bodyPr>
          <a:lstStyle/>
          <a:p>
            <a:pPr algn="l">
              <a:defRPr sz="2200" b="1">
                <a:solidFill>
                  <a:srgbClr val="C7F700"/>
                </a:solidFill>
                <a:latin typeface="Arial"/>
              </a:defRPr>
            </a:pPr>
            <a:r>
              <a:t>Literature Review</a:t>
            </a:r>
          </a:p>
        </p:txBody>
      </p:sp>
      <p:sp>
        <p:nvSpPr>
          <p:cNvPr id="6" name="TextBox 5"/>
          <p:cNvSpPr txBox="1"/>
          <p:nvPr/>
        </p:nvSpPr>
        <p:spPr>
          <a:xfrm>
            <a:off x="2011680" y="2240280"/>
            <a:ext cx="8229600" cy="457200"/>
          </a:xfrm>
          <a:prstGeom prst="rect">
            <a:avLst/>
          </a:prstGeom>
          <a:noFill/>
        </p:spPr>
        <p:txBody>
          <a:bodyPr wrap="square">
            <a:spAutoFit/>
          </a:bodyPr>
          <a:lstStyle/>
          <a:p>
            <a:pPr algn="l">
              <a:defRPr sz="1700" b="0">
                <a:solidFill>
                  <a:srgbClr val="CCCCCC"/>
                </a:solidFill>
                <a:latin typeface="Arial"/>
              </a:defRPr>
            </a:pPr>
            <a:r>
              <a:t>Synthesise papers, identify gaps, find connections across disciplines</a:t>
            </a:r>
          </a:p>
        </p:txBody>
      </p:sp>
      <p:sp>
        <p:nvSpPr>
          <p:cNvPr id="7" name="TextBox 6"/>
          <p:cNvSpPr txBox="1"/>
          <p:nvPr/>
        </p:nvSpPr>
        <p:spPr>
          <a:xfrm>
            <a:off x="1097280" y="3017520"/>
            <a:ext cx="731520" cy="548640"/>
          </a:xfrm>
          <a:prstGeom prst="rect">
            <a:avLst/>
          </a:prstGeom>
          <a:noFill/>
        </p:spPr>
        <p:txBody>
          <a:bodyPr wrap="square">
            <a:spAutoFit/>
          </a:bodyPr>
          <a:lstStyle/>
          <a:p>
            <a:pPr algn="ctr">
              <a:defRPr sz="2800" b="0">
                <a:solidFill>
                  <a:srgbClr val="FFFFFF"/>
                </a:solidFill>
                <a:latin typeface="Arial"/>
              </a:defRPr>
            </a:pPr>
            <a:r>
              <a:t>💡</a:t>
            </a:r>
          </a:p>
        </p:txBody>
      </p:sp>
      <p:sp>
        <p:nvSpPr>
          <p:cNvPr id="8" name="TextBox 7"/>
          <p:cNvSpPr txBox="1"/>
          <p:nvPr/>
        </p:nvSpPr>
        <p:spPr>
          <a:xfrm>
            <a:off x="2011680" y="3017520"/>
            <a:ext cx="3657600" cy="457200"/>
          </a:xfrm>
          <a:prstGeom prst="rect">
            <a:avLst/>
          </a:prstGeom>
          <a:noFill/>
        </p:spPr>
        <p:txBody>
          <a:bodyPr wrap="square">
            <a:spAutoFit/>
          </a:bodyPr>
          <a:lstStyle/>
          <a:p>
            <a:pPr algn="l">
              <a:defRPr sz="2200" b="1">
                <a:solidFill>
                  <a:srgbClr val="C7F700"/>
                </a:solidFill>
                <a:latin typeface="Arial"/>
              </a:defRPr>
            </a:pPr>
            <a:r>
              <a:t>Brainstorming</a:t>
            </a:r>
          </a:p>
        </p:txBody>
      </p:sp>
      <p:sp>
        <p:nvSpPr>
          <p:cNvPr id="9" name="TextBox 8"/>
          <p:cNvSpPr txBox="1"/>
          <p:nvPr/>
        </p:nvSpPr>
        <p:spPr>
          <a:xfrm>
            <a:off x="2011680" y="3429000"/>
            <a:ext cx="8229600" cy="457200"/>
          </a:xfrm>
          <a:prstGeom prst="rect">
            <a:avLst/>
          </a:prstGeom>
          <a:noFill/>
        </p:spPr>
        <p:txBody>
          <a:bodyPr wrap="square">
            <a:spAutoFit/>
          </a:bodyPr>
          <a:lstStyle/>
          <a:p>
            <a:pPr algn="l">
              <a:defRPr sz="1700" b="0">
                <a:solidFill>
                  <a:srgbClr val="CCCCCC"/>
                </a:solidFill>
                <a:latin typeface="Arial"/>
              </a:defRPr>
            </a:pPr>
            <a:r>
              <a:t>Generate hypotheses, explore alternative framings, challenge assumptions</a:t>
            </a:r>
          </a:p>
        </p:txBody>
      </p:sp>
      <p:sp>
        <p:nvSpPr>
          <p:cNvPr id="10" name="TextBox 9"/>
          <p:cNvSpPr txBox="1"/>
          <p:nvPr/>
        </p:nvSpPr>
        <p:spPr>
          <a:xfrm>
            <a:off x="1097280" y="4206240"/>
            <a:ext cx="731520" cy="548640"/>
          </a:xfrm>
          <a:prstGeom prst="rect">
            <a:avLst/>
          </a:prstGeom>
          <a:noFill/>
        </p:spPr>
        <p:txBody>
          <a:bodyPr wrap="square">
            <a:spAutoFit/>
          </a:bodyPr>
          <a:lstStyle/>
          <a:p>
            <a:pPr algn="ctr">
              <a:defRPr sz="2800" b="0">
                <a:solidFill>
                  <a:srgbClr val="FFFFFF"/>
                </a:solidFill>
                <a:latin typeface="Arial"/>
              </a:defRPr>
            </a:pPr>
            <a:r>
              <a:t>🧪</a:t>
            </a:r>
          </a:p>
        </p:txBody>
      </p:sp>
      <p:sp>
        <p:nvSpPr>
          <p:cNvPr id="11" name="TextBox 10"/>
          <p:cNvSpPr txBox="1"/>
          <p:nvPr/>
        </p:nvSpPr>
        <p:spPr>
          <a:xfrm>
            <a:off x="2011680" y="4206240"/>
            <a:ext cx="3657600" cy="457200"/>
          </a:xfrm>
          <a:prstGeom prst="rect">
            <a:avLst/>
          </a:prstGeom>
          <a:noFill/>
        </p:spPr>
        <p:txBody>
          <a:bodyPr wrap="square">
            <a:spAutoFit/>
          </a:bodyPr>
          <a:lstStyle/>
          <a:p>
            <a:pPr algn="l">
              <a:defRPr sz="2200" b="1">
                <a:solidFill>
                  <a:srgbClr val="C7F700"/>
                </a:solidFill>
                <a:latin typeface="Arial"/>
              </a:defRPr>
            </a:pPr>
            <a:r>
              <a:t>Hypothesis Generation</a:t>
            </a:r>
          </a:p>
        </p:txBody>
      </p:sp>
      <p:sp>
        <p:nvSpPr>
          <p:cNvPr id="12" name="TextBox 11"/>
          <p:cNvSpPr txBox="1"/>
          <p:nvPr/>
        </p:nvSpPr>
        <p:spPr>
          <a:xfrm>
            <a:off x="2011680" y="4617720"/>
            <a:ext cx="8229600" cy="457200"/>
          </a:xfrm>
          <a:prstGeom prst="rect">
            <a:avLst/>
          </a:prstGeom>
          <a:noFill/>
        </p:spPr>
        <p:txBody>
          <a:bodyPr wrap="square">
            <a:spAutoFit/>
          </a:bodyPr>
          <a:lstStyle/>
          <a:p>
            <a:pPr algn="l">
              <a:defRPr sz="1700" b="0">
                <a:solidFill>
                  <a:srgbClr val="CCCCCC"/>
                </a:solidFill>
                <a:latin typeface="Arial"/>
              </a:defRPr>
            </a:pPr>
            <a:r>
              <a:t>Identify testable predictions from complex datasets and theory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Arial"/>
              </a:defRPr>
            </a:pPr>
            <a:r>
              <a:t>🧮  Use 2: Maths &amp; Reasoning</a:t>
            </a:r>
          </a:p>
        </p:txBody>
      </p:sp>
      <p:sp>
        <p:nvSpPr>
          <p:cNvPr id="4" name="TextBox 3"/>
          <p:cNvSpPr txBox="1"/>
          <p:nvPr/>
        </p:nvSpPr>
        <p:spPr>
          <a:xfrm>
            <a:off x="1097280" y="1828800"/>
            <a:ext cx="731520" cy="548640"/>
          </a:xfrm>
          <a:prstGeom prst="rect">
            <a:avLst/>
          </a:prstGeom>
          <a:noFill/>
        </p:spPr>
        <p:txBody>
          <a:bodyPr wrap="square">
            <a:spAutoFit/>
          </a:bodyPr>
          <a:lstStyle/>
          <a:p>
            <a:pPr algn="ctr">
              <a:defRPr sz="2800" b="0">
                <a:solidFill>
                  <a:srgbClr val="FFFFFF"/>
                </a:solidFill>
                <a:latin typeface="Arial"/>
              </a:defRPr>
            </a:pPr>
            <a:r>
              <a:t>📊</a:t>
            </a:r>
          </a:p>
        </p:txBody>
      </p:sp>
      <p:sp>
        <p:nvSpPr>
          <p:cNvPr id="5" name="TextBox 4"/>
          <p:cNvSpPr txBox="1"/>
          <p:nvPr/>
        </p:nvSpPr>
        <p:spPr>
          <a:xfrm>
            <a:off x="2011680" y="1828800"/>
            <a:ext cx="3657600" cy="457200"/>
          </a:xfrm>
          <a:prstGeom prst="rect">
            <a:avLst/>
          </a:prstGeom>
          <a:noFill/>
        </p:spPr>
        <p:txBody>
          <a:bodyPr wrap="square">
            <a:spAutoFit/>
          </a:bodyPr>
          <a:lstStyle/>
          <a:p>
            <a:pPr algn="l">
              <a:defRPr sz="2200" b="1">
                <a:solidFill>
                  <a:srgbClr val="C7F700"/>
                </a:solidFill>
                <a:latin typeface="Arial"/>
              </a:defRPr>
            </a:pPr>
            <a:r>
              <a:t>Statistical Analysis</a:t>
            </a:r>
          </a:p>
        </p:txBody>
      </p:sp>
      <p:sp>
        <p:nvSpPr>
          <p:cNvPr id="6" name="TextBox 5"/>
          <p:cNvSpPr txBox="1"/>
          <p:nvPr/>
        </p:nvSpPr>
        <p:spPr>
          <a:xfrm>
            <a:off x="2011680" y="2240280"/>
            <a:ext cx="8229600" cy="457200"/>
          </a:xfrm>
          <a:prstGeom prst="rect">
            <a:avLst/>
          </a:prstGeom>
          <a:noFill/>
        </p:spPr>
        <p:txBody>
          <a:bodyPr wrap="square">
            <a:spAutoFit/>
          </a:bodyPr>
          <a:lstStyle/>
          <a:p>
            <a:pPr algn="l">
              <a:defRPr sz="1700" b="0">
                <a:solidFill>
                  <a:srgbClr val="CCCCCC"/>
                </a:solidFill>
                <a:latin typeface="Arial"/>
              </a:defRPr>
            </a:pPr>
            <a:r>
              <a:t>Model selection, power calculations, interpreting complex outputs</a:t>
            </a:r>
          </a:p>
        </p:txBody>
      </p:sp>
      <p:sp>
        <p:nvSpPr>
          <p:cNvPr id="7" name="TextBox 6"/>
          <p:cNvSpPr txBox="1"/>
          <p:nvPr/>
        </p:nvSpPr>
        <p:spPr>
          <a:xfrm>
            <a:off x="1097280" y="3017520"/>
            <a:ext cx="731520" cy="548640"/>
          </a:xfrm>
          <a:prstGeom prst="rect">
            <a:avLst/>
          </a:prstGeom>
          <a:noFill/>
        </p:spPr>
        <p:txBody>
          <a:bodyPr wrap="square">
            <a:spAutoFit/>
          </a:bodyPr>
          <a:lstStyle/>
          <a:p>
            <a:pPr algn="ctr">
              <a:defRPr sz="2800" b="0">
                <a:solidFill>
                  <a:srgbClr val="FFFFFF"/>
                </a:solidFill>
                <a:latin typeface="Arial"/>
              </a:defRPr>
            </a:pPr>
            <a:r>
              <a:t>📈</a:t>
            </a:r>
          </a:p>
        </p:txBody>
      </p:sp>
      <p:sp>
        <p:nvSpPr>
          <p:cNvPr id="8" name="TextBox 7"/>
          <p:cNvSpPr txBox="1"/>
          <p:nvPr/>
        </p:nvSpPr>
        <p:spPr>
          <a:xfrm>
            <a:off x="2011680" y="3017520"/>
            <a:ext cx="3657600" cy="457200"/>
          </a:xfrm>
          <a:prstGeom prst="rect">
            <a:avLst/>
          </a:prstGeom>
          <a:noFill/>
        </p:spPr>
        <p:txBody>
          <a:bodyPr wrap="square">
            <a:spAutoFit/>
          </a:bodyPr>
          <a:lstStyle/>
          <a:p>
            <a:pPr algn="l">
              <a:defRPr sz="2200" b="1">
                <a:solidFill>
                  <a:srgbClr val="C7F700"/>
                </a:solidFill>
                <a:latin typeface="Arial"/>
              </a:defRPr>
            </a:pPr>
            <a:r>
              <a:t>Data Interpretation</a:t>
            </a:r>
          </a:p>
        </p:txBody>
      </p:sp>
      <p:sp>
        <p:nvSpPr>
          <p:cNvPr id="9" name="TextBox 8"/>
          <p:cNvSpPr txBox="1"/>
          <p:nvPr/>
        </p:nvSpPr>
        <p:spPr>
          <a:xfrm>
            <a:off x="2011680" y="3429000"/>
            <a:ext cx="8229600" cy="457200"/>
          </a:xfrm>
          <a:prstGeom prst="rect">
            <a:avLst/>
          </a:prstGeom>
          <a:noFill/>
        </p:spPr>
        <p:txBody>
          <a:bodyPr wrap="square">
            <a:spAutoFit/>
          </a:bodyPr>
          <a:lstStyle/>
          <a:p>
            <a:pPr algn="l">
              <a:defRPr sz="1700" b="0">
                <a:solidFill>
                  <a:srgbClr val="CCCCCC"/>
                </a:solidFill>
                <a:latin typeface="Arial"/>
              </a:defRPr>
            </a:pPr>
            <a:r>
              <a:t>Explaining results, identifying patterns, suggesting visualisations</a:t>
            </a:r>
          </a:p>
        </p:txBody>
      </p:sp>
      <p:sp>
        <p:nvSpPr>
          <p:cNvPr id="10" name="TextBox 9"/>
          <p:cNvSpPr txBox="1"/>
          <p:nvPr/>
        </p:nvSpPr>
        <p:spPr>
          <a:xfrm>
            <a:off x="1097280" y="4206240"/>
            <a:ext cx="731520" cy="548640"/>
          </a:xfrm>
          <a:prstGeom prst="rect">
            <a:avLst/>
          </a:prstGeom>
          <a:noFill/>
        </p:spPr>
        <p:txBody>
          <a:bodyPr wrap="square">
            <a:spAutoFit/>
          </a:bodyPr>
          <a:lstStyle/>
          <a:p>
            <a:pPr algn="ctr">
              <a:defRPr sz="2800" b="0">
                <a:solidFill>
                  <a:srgbClr val="FFFFFF"/>
                </a:solidFill>
                <a:latin typeface="Arial"/>
              </a:defRPr>
            </a:pPr>
            <a:r>
              <a:t>🔢</a:t>
            </a:r>
          </a:p>
        </p:txBody>
      </p:sp>
      <p:sp>
        <p:nvSpPr>
          <p:cNvPr id="11" name="TextBox 10"/>
          <p:cNvSpPr txBox="1"/>
          <p:nvPr/>
        </p:nvSpPr>
        <p:spPr>
          <a:xfrm>
            <a:off x="2011680" y="4206240"/>
            <a:ext cx="3657600" cy="457200"/>
          </a:xfrm>
          <a:prstGeom prst="rect">
            <a:avLst/>
          </a:prstGeom>
          <a:noFill/>
        </p:spPr>
        <p:txBody>
          <a:bodyPr wrap="square">
            <a:spAutoFit/>
          </a:bodyPr>
          <a:lstStyle/>
          <a:p>
            <a:pPr algn="l">
              <a:defRPr sz="2200" b="1">
                <a:solidFill>
                  <a:srgbClr val="C7F700"/>
                </a:solidFill>
                <a:latin typeface="Arial"/>
              </a:defRPr>
            </a:pPr>
            <a:r>
              <a:t>Complex Calculations</a:t>
            </a:r>
          </a:p>
        </p:txBody>
      </p:sp>
      <p:sp>
        <p:nvSpPr>
          <p:cNvPr id="12" name="TextBox 11"/>
          <p:cNvSpPr txBox="1"/>
          <p:nvPr/>
        </p:nvSpPr>
        <p:spPr>
          <a:xfrm>
            <a:off x="2011680" y="4617720"/>
            <a:ext cx="8229600" cy="457200"/>
          </a:xfrm>
          <a:prstGeom prst="rect">
            <a:avLst/>
          </a:prstGeom>
          <a:noFill/>
        </p:spPr>
        <p:txBody>
          <a:bodyPr wrap="square">
            <a:spAutoFit/>
          </a:bodyPr>
          <a:lstStyle/>
          <a:p>
            <a:pPr algn="l">
              <a:defRPr sz="1700" b="0">
                <a:solidFill>
                  <a:srgbClr val="CCCCCC"/>
                </a:solidFill>
                <a:latin typeface="Arial"/>
              </a:defRPr>
            </a:pPr>
            <a:r>
              <a:t>Unit conversions, spatial statistics, remote sensing indices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Arial"/>
              </a:defRPr>
            </a:pPr>
            <a:r>
              <a:t>💻  Use 3: Coding</a:t>
            </a:r>
          </a:p>
        </p:txBody>
      </p:sp>
      <p:sp>
        <p:nvSpPr>
          <p:cNvPr id="4" name="TextBox 3"/>
          <p:cNvSpPr txBox="1"/>
          <p:nvPr/>
        </p:nvSpPr>
        <p:spPr>
          <a:xfrm>
            <a:off x="731520" y="1097280"/>
            <a:ext cx="10058400" cy="457200"/>
          </a:xfrm>
          <a:prstGeom prst="rect">
            <a:avLst/>
          </a:prstGeom>
          <a:noFill/>
        </p:spPr>
        <p:txBody>
          <a:bodyPr wrap="square">
            <a:spAutoFit/>
          </a:bodyPr>
          <a:lstStyle/>
          <a:p>
            <a:pPr algn="l">
              <a:defRPr sz="2200" b="0">
                <a:solidFill>
                  <a:srgbClr val="C7F700"/>
                </a:solidFill>
                <a:latin typeface="Arial"/>
              </a:defRPr>
            </a:pPr>
            <a:r>
              <a:t>This is what we'll focus on today</a:t>
            </a:r>
          </a:p>
        </p:txBody>
      </p:sp>
      <p:sp>
        <p:nvSpPr>
          <p:cNvPr id="5" name="TextBox 4"/>
          <p:cNvSpPr txBox="1"/>
          <p:nvPr/>
        </p:nvSpPr>
        <p:spPr>
          <a:xfrm>
            <a:off x="1097280" y="2011680"/>
            <a:ext cx="731520" cy="548640"/>
          </a:xfrm>
          <a:prstGeom prst="rect">
            <a:avLst/>
          </a:prstGeom>
          <a:noFill/>
        </p:spPr>
        <p:txBody>
          <a:bodyPr wrap="square">
            <a:spAutoFit/>
          </a:bodyPr>
          <a:lstStyle/>
          <a:p>
            <a:pPr algn="ctr">
              <a:defRPr sz="2800" b="0">
                <a:solidFill>
                  <a:srgbClr val="FFFFFF"/>
                </a:solidFill>
                <a:latin typeface="Arial"/>
              </a:defRPr>
            </a:pPr>
            <a:r>
              <a:t>✍️</a:t>
            </a:r>
          </a:p>
        </p:txBody>
      </p:sp>
      <p:sp>
        <p:nvSpPr>
          <p:cNvPr id="6" name="TextBox 5"/>
          <p:cNvSpPr txBox="1"/>
          <p:nvPr/>
        </p:nvSpPr>
        <p:spPr>
          <a:xfrm>
            <a:off x="2011680" y="2011680"/>
            <a:ext cx="3657600" cy="457200"/>
          </a:xfrm>
          <a:prstGeom prst="rect">
            <a:avLst/>
          </a:prstGeom>
          <a:noFill/>
        </p:spPr>
        <p:txBody>
          <a:bodyPr wrap="square">
            <a:spAutoFit/>
          </a:bodyPr>
          <a:lstStyle/>
          <a:p>
            <a:pPr algn="l">
              <a:defRPr sz="2200" b="1">
                <a:solidFill>
                  <a:srgbClr val="C7F700"/>
                </a:solidFill>
                <a:latin typeface="Arial"/>
              </a:defRPr>
            </a:pPr>
            <a:r>
              <a:t>Writing Code</a:t>
            </a:r>
          </a:p>
        </p:txBody>
      </p:sp>
      <p:sp>
        <p:nvSpPr>
          <p:cNvPr id="7" name="TextBox 6"/>
          <p:cNvSpPr txBox="1"/>
          <p:nvPr/>
        </p:nvSpPr>
        <p:spPr>
          <a:xfrm>
            <a:off x="2011680" y="2423160"/>
            <a:ext cx="8229600" cy="457200"/>
          </a:xfrm>
          <a:prstGeom prst="rect">
            <a:avLst/>
          </a:prstGeom>
          <a:noFill/>
        </p:spPr>
        <p:txBody>
          <a:bodyPr wrap="square">
            <a:spAutoFit/>
          </a:bodyPr>
          <a:lstStyle/>
          <a:p>
            <a:pPr algn="l">
              <a:defRPr sz="1700" b="0">
                <a:solidFill>
                  <a:srgbClr val="CCCCCC"/>
                </a:solidFill>
                <a:latin typeface="Arial"/>
              </a:defRPr>
            </a:pPr>
            <a:r>
              <a:t>Generate scripts from natural language descriptions of your analysis</a:t>
            </a:r>
          </a:p>
        </p:txBody>
      </p:sp>
      <p:sp>
        <p:nvSpPr>
          <p:cNvPr id="8" name="TextBox 7"/>
          <p:cNvSpPr txBox="1"/>
          <p:nvPr/>
        </p:nvSpPr>
        <p:spPr>
          <a:xfrm>
            <a:off x="1097280" y="3200400"/>
            <a:ext cx="731520" cy="548640"/>
          </a:xfrm>
          <a:prstGeom prst="rect">
            <a:avLst/>
          </a:prstGeom>
          <a:noFill/>
        </p:spPr>
        <p:txBody>
          <a:bodyPr wrap="square">
            <a:spAutoFit/>
          </a:bodyPr>
          <a:lstStyle/>
          <a:p>
            <a:pPr algn="ctr">
              <a:defRPr sz="2800" b="0">
                <a:solidFill>
                  <a:srgbClr val="FFFFFF"/>
                </a:solidFill>
                <a:latin typeface="Arial"/>
              </a:defRPr>
            </a:pPr>
            <a:r>
              <a:t>🐛</a:t>
            </a:r>
          </a:p>
        </p:txBody>
      </p:sp>
      <p:sp>
        <p:nvSpPr>
          <p:cNvPr id="9" name="TextBox 8"/>
          <p:cNvSpPr txBox="1"/>
          <p:nvPr/>
        </p:nvSpPr>
        <p:spPr>
          <a:xfrm>
            <a:off x="2011680" y="3200400"/>
            <a:ext cx="3657600" cy="457200"/>
          </a:xfrm>
          <a:prstGeom prst="rect">
            <a:avLst/>
          </a:prstGeom>
          <a:noFill/>
        </p:spPr>
        <p:txBody>
          <a:bodyPr wrap="square">
            <a:spAutoFit/>
          </a:bodyPr>
          <a:lstStyle/>
          <a:p>
            <a:pPr algn="l">
              <a:defRPr sz="2200" b="1">
                <a:solidFill>
                  <a:srgbClr val="C7F700"/>
                </a:solidFill>
                <a:latin typeface="Arial"/>
              </a:defRPr>
            </a:pPr>
            <a:r>
              <a:t>Debugging</a:t>
            </a:r>
          </a:p>
        </p:txBody>
      </p:sp>
      <p:sp>
        <p:nvSpPr>
          <p:cNvPr id="10" name="TextBox 9"/>
          <p:cNvSpPr txBox="1"/>
          <p:nvPr/>
        </p:nvSpPr>
        <p:spPr>
          <a:xfrm>
            <a:off x="2011680" y="3611880"/>
            <a:ext cx="8229600" cy="457200"/>
          </a:xfrm>
          <a:prstGeom prst="rect">
            <a:avLst/>
          </a:prstGeom>
          <a:noFill/>
        </p:spPr>
        <p:txBody>
          <a:bodyPr wrap="square">
            <a:spAutoFit/>
          </a:bodyPr>
          <a:lstStyle/>
          <a:p>
            <a:pPr algn="l">
              <a:defRPr sz="1700" b="0">
                <a:solidFill>
                  <a:srgbClr val="CCCCCC"/>
                </a:solidFill>
                <a:latin typeface="Arial"/>
              </a:defRPr>
            </a:pPr>
            <a:r>
              <a:t>Identify bugs, explain errors, suggest fixes — often faster than Stack Overflow</a:t>
            </a:r>
          </a:p>
        </p:txBody>
      </p:sp>
      <p:sp>
        <p:nvSpPr>
          <p:cNvPr id="11" name="TextBox 10"/>
          <p:cNvSpPr txBox="1"/>
          <p:nvPr/>
        </p:nvSpPr>
        <p:spPr>
          <a:xfrm>
            <a:off x="1097280" y="4389120"/>
            <a:ext cx="731520" cy="548640"/>
          </a:xfrm>
          <a:prstGeom prst="rect">
            <a:avLst/>
          </a:prstGeom>
          <a:noFill/>
        </p:spPr>
        <p:txBody>
          <a:bodyPr wrap="square">
            <a:spAutoFit/>
          </a:bodyPr>
          <a:lstStyle/>
          <a:p>
            <a:pPr algn="ctr">
              <a:defRPr sz="2800" b="0">
                <a:solidFill>
                  <a:srgbClr val="FFFFFF"/>
                </a:solidFill>
                <a:latin typeface="Arial"/>
              </a:defRPr>
            </a:pPr>
            <a:r>
              <a:t>♻️</a:t>
            </a:r>
          </a:p>
        </p:txBody>
      </p:sp>
      <p:sp>
        <p:nvSpPr>
          <p:cNvPr id="12" name="TextBox 11"/>
          <p:cNvSpPr txBox="1"/>
          <p:nvPr/>
        </p:nvSpPr>
        <p:spPr>
          <a:xfrm>
            <a:off x="2011680" y="4389120"/>
            <a:ext cx="3657600" cy="457200"/>
          </a:xfrm>
          <a:prstGeom prst="rect">
            <a:avLst/>
          </a:prstGeom>
          <a:noFill/>
        </p:spPr>
        <p:txBody>
          <a:bodyPr wrap="square">
            <a:spAutoFit/>
          </a:bodyPr>
          <a:lstStyle/>
          <a:p>
            <a:pPr algn="l">
              <a:defRPr sz="2200" b="1">
                <a:solidFill>
                  <a:srgbClr val="C7F700"/>
                </a:solidFill>
                <a:latin typeface="Arial"/>
              </a:defRPr>
            </a:pPr>
            <a:r>
              <a:t>Refactoring</a:t>
            </a:r>
          </a:p>
        </p:txBody>
      </p:sp>
      <p:sp>
        <p:nvSpPr>
          <p:cNvPr id="13" name="TextBox 12"/>
          <p:cNvSpPr txBox="1"/>
          <p:nvPr/>
        </p:nvSpPr>
        <p:spPr>
          <a:xfrm>
            <a:off x="2011680" y="4800600"/>
            <a:ext cx="8229600" cy="457200"/>
          </a:xfrm>
          <a:prstGeom prst="rect">
            <a:avLst/>
          </a:prstGeom>
          <a:noFill/>
        </p:spPr>
        <p:txBody>
          <a:bodyPr wrap="square">
            <a:spAutoFit/>
          </a:bodyPr>
          <a:lstStyle/>
          <a:p>
            <a:pPr algn="l">
              <a:defRPr sz="1700" b="0">
                <a:solidFill>
                  <a:srgbClr val="CCCCCC"/>
                </a:solidFill>
                <a:latin typeface="Arial"/>
              </a:defRPr>
            </a:pPr>
            <a:r>
              <a:t>Improve code structure, add documentation, optimise performance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457200"/>
            <a:ext cx="10058400" cy="731520"/>
          </a:xfrm>
          <a:prstGeom prst="rect">
            <a:avLst/>
          </a:prstGeom>
          <a:noFill/>
        </p:spPr>
        <p:txBody>
          <a:bodyPr wrap="square">
            <a:spAutoFit/>
          </a:bodyPr>
          <a:lstStyle/>
          <a:p>
            <a:pPr algn="l">
              <a:defRPr sz="3600" b="1">
                <a:solidFill>
                  <a:srgbClr val="FFFFFF"/>
                </a:solidFill>
                <a:latin typeface="Arial"/>
              </a:defRPr>
            </a:pPr>
            <a:r>
              <a:t>🎵  What is "Vibe Coding"?</a:t>
            </a:r>
          </a:p>
        </p:txBody>
      </p:sp>
      <p:sp>
        <p:nvSpPr>
          <p:cNvPr id="4" name="TextBox 3"/>
          <p:cNvSpPr txBox="1"/>
          <p:nvPr/>
        </p:nvSpPr>
        <p:spPr>
          <a:xfrm>
            <a:off x="1371600" y="1645920"/>
            <a:ext cx="9144000" cy="1371600"/>
          </a:xfrm>
          <a:prstGeom prst="rect">
            <a:avLst/>
          </a:prstGeom>
          <a:noFill/>
        </p:spPr>
        <p:txBody>
          <a:bodyPr wrap="square">
            <a:spAutoFit/>
          </a:bodyPr>
          <a:lstStyle/>
          <a:p>
            <a:pPr>
              <a:defRPr sz="1800" i="1">
                <a:solidFill>
                  <a:srgbClr val="DEC6A2"/>
                </a:solidFill>
                <a:latin typeface="Arial"/>
              </a:defRPr>
            </a:pPr>
            <a:r>
              <a:t>"There's a new kind of coding I call vibe coding, where you fully give in to the vibes, embrace exponentials, and forget that the code even exists."</a:t>
            </a:r>
          </a:p>
          <a:p>
            <a:pPr algn="l">
              <a:spcBef>
                <a:spcPts val="600"/>
              </a:spcBef>
              <a:defRPr sz="1400" b="0">
                <a:solidFill>
                  <a:srgbClr val="CCCCCC"/>
                </a:solidFill>
                <a:latin typeface="Arial"/>
              </a:defRPr>
            </a:pPr>
            <a:r>
              <a:t>— Andrej Karpathy, Feb 2025</a:t>
            </a:r>
          </a:p>
        </p:txBody>
      </p:sp>
      <p:sp>
        <p:nvSpPr>
          <p:cNvPr id="5" name="TextBox 4"/>
          <p:cNvSpPr txBox="1"/>
          <p:nvPr/>
        </p:nvSpPr>
        <p:spPr>
          <a:xfrm>
            <a:off x="1371600" y="3840480"/>
            <a:ext cx="2103120" cy="731520"/>
          </a:xfrm>
          <a:prstGeom prst="rect">
            <a:avLst/>
          </a:prstGeom>
          <a:solidFill>
            <a:srgbClr val="008945"/>
          </a:solidFill>
        </p:spPr>
        <p:txBody>
          <a:bodyPr wrap="none">
            <a:spAutoFit/>
          </a:bodyPr>
          <a:lstStyle/>
          <a:p>
            <a:pPr algn="ctr">
              <a:defRPr sz="1600" b="1">
                <a:solidFill>
                  <a:srgbClr val="FFFFFF"/>
                </a:solidFill>
                <a:latin typeface="Arial"/>
              </a:defRPr>
            </a:pPr>
            <a:r>
              <a:t>Fully manual</a:t>
            </a:r>
          </a:p>
        </p:txBody>
      </p:sp>
      <p:sp>
        <p:nvSpPr>
          <p:cNvPr id="6" name="TextBox 5"/>
          <p:cNvSpPr txBox="1"/>
          <p:nvPr/>
        </p:nvSpPr>
        <p:spPr>
          <a:xfrm>
            <a:off x="3749039" y="3840480"/>
            <a:ext cx="2103120" cy="731520"/>
          </a:xfrm>
          <a:prstGeom prst="rect">
            <a:avLst/>
          </a:prstGeom>
          <a:solidFill>
            <a:srgbClr val="4DB878"/>
          </a:solidFill>
        </p:spPr>
        <p:txBody>
          <a:bodyPr wrap="none">
            <a:spAutoFit/>
          </a:bodyPr>
          <a:lstStyle/>
          <a:p>
            <a:pPr algn="ctr">
              <a:defRPr sz="1600" b="1">
                <a:solidFill>
                  <a:srgbClr val="FFFFFF"/>
                </a:solidFill>
                <a:latin typeface="Arial"/>
              </a:defRPr>
            </a:pPr>
            <a:r>
              <a:t>AI-assisted</a:t>
            </a:r>
          </a:p>
        </p:txBody>
      </p:sp>
      <p:sp>
        <p:nvSpPr>
          <p:cNvPr id="7" name="TextBox 6"/>
          <p:cNvSpPr txBox="1"/>
          <p:nvPr/>
        </p:nvSpPr>
        <p:spPr>
          <a:xfrm>
            <a:off x="6126479" y="3840480"/>
            <a:ext cx="2103120" cy="731520"/>
          </a:xfrm>
          <a:prstGeom prst="rect">
            <a:avLst/>
          </a:prstGeom>
          <a:solidFill>
            <a:srgbClr val="C7F700"/>
          </a:solidFill>
        </p:spPr>
        <p:txBody>
          <a:bodyPr wrap="none">
            <a:spAutoFit/>
          </a:bodyPr>
          <a:lstStyle/>
          <a:p>
            <a:pPr algn="ctr">
              <a:defRPr sz="1600" b="1">
                <a:solidFill>
                  <a:srgbClr val="FFFFFF"/>
                </a:solidFill>
                <a:latin typeface="Arial"/>
              </a:defRPr>
            </a:pPr>
            <a:r>
              <a:t>AI-led</a:t>
            </a:r>
          </a:p>
        </p:txBody>
      </p:sp>
      <p:sp>
        <p:nvSpPr>
          <p:cNvPr id="8" name="TextBox 7"/>
          <p:cNvSpPr txBox="1"/>
          <p:nvPr/>
        </p:nvSpPr>
        <p:spPr>
          <a:xfrm>
            <a:off x="8503919" y="3840480"/>
            <a:ext cx="2103120" cy="731520"/>
          </a:xfrm>
          <a:prstGeom prst="rect">
            <a:avLst/>
          </a:prstGeom>
          <a:solidFill>
            <a:srgbClr val="FF6B6B"/>
          </a:solidFill>
        </p:spPr>
        <p:txBody>
          <a:bodyPr wrap="none">
            <a:spAutoFit/>
          </a:bodyPr>
          <a:lstStyle/>
          <a:p>
            <a:pPr algn="ctr">
              <a:defRPr sz="1600" b="1">
                <a:solidFill>
                  <a:srgbClr val="FFFFFF"/>
                </a:solidFill>
                <a:latin typeface="Arial"/>
              </a:defRPr>
            </a:pPr>
            <a:r>
              <a:t>Fully AI-generated</a:t>
            </a:r>
          </a:p>
        </p:txBody>
      </p:sp>
      <p:sp>
        <p:nvSpPr>
          <p:cNvPr id="9" name="TextBox 8"/>
          <p:cNvSpPr txBox="1"/>
          <p:nvPr/>
        </p:nvSpPr>
        <p:spPr>
          <a:xfrm>
            <a:off x="1371600" y="5029200"/>
            <a:ext cx="9144000" cy="457200"/>
          </a:xfrm>
          <a:prstGeom prst="rect">
            <a:avLst/>
          </a:prstGeom>
          <a:noFill/>
        </p:spPr>
        <p:txBody>
          <a:bodyPr wrap="square">
            <a:spAutoFit/>
          </a:bodyPr>
          <a:lstStyle/>
          <a:p>
            <a:pPr algn="ctr">
              <a:defRPr sz="1800" b="0">
                <a:solidFill>
                  <a:srgbClr val="DEC6A2"/>
                </a:solidFill>
                <a:latin typeface="Arial"/>
              </a:defRPr>
            </a:pPr>
            <a:r>
              <a:t>For scientific code, we need to stay in the responsible middle of this spectrum.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914400" y="1828800"/>
            <a:ext cx="10058400" cy="731520"/>
          </a:xfrm>
          <a:prstGeom prst="rect">
            <a:avLst/>
          </a:prstGeom>
          <a:noFill/>
        </p:spPr>
        <p:txBody>
          <a:bodyPr wrap="square">
            <a:spAutoFit/>
          </a:bodyPr>
          <a:lstStyle/>
          <a:p>
            <a:pPr algn="ctr">
              <a:defRPr sz="2800" b="0">
                <a:solidFill>
                  <a:srgbClr val="DEC6A2"/>
                </a:solidFill>
                <a:latin typeface="Arial"/>
              </a:defRPr>
            </a:pPr>
            <a:r>
              <a:t>But how do we do this</a:t>
            </a:r>
          </a:p>
        </p:txBody>
      </p:sp>
      <p:sp>
        <p:nvSpPr>
          <p:cNvPr id="4" name="TextBox 3"/>
          <p:cNvSpPr txBox="1"/>
          <p:nvPr/>
        </p:nvSpPr>
        <p:spPr>
          <a:xfrm>
            <a:off x="914400" y="2560320"/>
            <a:ext cx="10058400" cy="1097280"/>
          </a:xfrm>
          <a:prstGeom prst="rect">
            <a:avLst/>
          </a:prstGeom>
          <a:noFill/>
        </p:spPr>
        <p:txBody>
          <a:bodyPr wrap="square">
            <a:spAutoFit/>
          </a:bodyPr>
          <a:lstStyle/>
          <a:p>
            <a:pPr algn="ctr">
              <a:defRPr sz="6000" b="1">
                <a:solidFill>
                  <a:srgbClr val="C7F700"/>
                </a:solidFill>
                <a:latin typeface="Arial"/>
              </a:defRPr>
            </a:pPr>
            <a:r>
              <a:t>responsibly?</a:t>
            </a:r>
          </a:p>
        </p:txBody>
      </p:sp>
      <p:sp>
        <p:nvSpPr>
          <p:cNvPr id="5" name="TextBox 4"/>
          <p:cNvSpPr txBox="1"/>
          <p:nvPr/>
        </p:nvSpPr>
        <p:spPr>
          <a:xfrm>
            <a:off x="914400" y="4114800"/>
            <a:ext cx="10058400" cy="731520"/>
          </a:xfrm>
          <a:prstGeom prst="rect">
            <a:avLst/>
          </a:prstGeom>
          <a:noFill/>
        </p:spPr>
        <p:txBody>
          <a:bodyPr wrap="square">
            <a:spAutoFit/>
          </a:bodyPr>
          <a:lstStyle/>
          <a:p>
            <a:pPr algn="ctr">
              <a:defRPr sz="4800" b="0">
                <a:solidFill>
                  <a:srgbClr val="C7F700"/>
                </a:solidFill>
                <a:latin typeface="Arial"/>
              </a:defRPr>
            </a:pPr>
            <a:r>
              <a:t>↓</a:t>
            </a:r>
          </a:p>
        </p:txBody>
      </p:sp>
      <p:sp>
        <p:nvSpPr>
          <p:cNvPr id="6" name="TextBox 5"/>
          <p:cNvSpPr txBox="1"/>
          <p:nvPr/>
        </p:nvSpPr>
        <p:spPr>
          <a:xfrm>
            <a:off x="914400" y="4846320"/>
            <a:ext cx="10058400" cy="457200"/>
          </a:xfrm>
          <a:prstGeom prst="rect">
            <a:avLst/>
          </a:prstGeom>
          <a:noFill/>
        </p:spPr>
        <p:txBody>
          <a:bodyPr wrap="square">
            <a:spAutoFit/>
          </a:bodyPr>
          <a:lstStyle/>
          <a:p>
            <a:pPr algn="ctr">
              <a:defRPr sz="2000" b="0">
                <a:solidFill>
                  <a:srgbClr val="CCCCCC"/>
                </a:solidFill>
                <a:latin typeface="Arial"/>
              </a:defRPr>
            </a:pPr>
            <a:r>
              <a:t>Six Principles for Working with 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4D25"/>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914400" y="2286000"/>
            <a:ext cx="10058400" cy="1097280"/>
          </a:xfrm>
          <a:prstGeom prst="rect">
            <a:avLst/>
          </a:prstGeom>
          <a:noFill/>
        </p:spPr>
        <p:txBody>
          <a:bodyPr wrap="square">
            <a:spAutoFit/>
          </a:bodyPr>
          <a:lstStyle/>
          <a:p>
            <a:pPr algn="ctr">
              <a:defRPr sz="4800" b="1">
                <a:solidFill>
                  <a:srgbClr val="FFFFFF"/>
                </a:solidFill>
                <a:latin typeface="Arial"/>
              </a:defRPr>
            </a:pPr>
            <a:r>
              <a:t>📋  Six Principles</a:t>
            </a:r>
          </a:p>
        </p:txBody>
      </p:sp>
      <p:sp>
        <p:nvSpPr>
          <p:cNvPr id="4" name="TextBox 3"/>
          <p:cNvSpPr txBox="1"/>
          <p:nvPr/>
        </p:nvSpPr>
        <p:spPr>
          <a:xfrm>
            <a:off x="914400" y="3474720"/>
            <a:ext cx="10058400" cy="548640"/>
          </a:xfrm>
          <a:prstGeom prst="rect">
            <a:avLst/>
          </a:prstGeom>
          <a:noFill/>
        </p:spPr>
        <p:txBody>
          <a:bodyPr wrap="square">
            <a:spAutoFit/>
          </a:bodyPr>
          <a:lstStyle/>
          <a:p>
            <a:pPr algn="ctr">
              <a:defRPr sz="2400" b="0">
                <a:solidFill>
                  <a:srgbClr val="DEC6A2"/>
                </a:solidFill>
                <a:latin typeface="Arial"/>
              </a:defRPr>
            </a:pPr>
            <a:r>
              <a:t>for Responsible AI-Assisted Coding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365760"/>
            <a:ext cx="4572000" cy="457200"/>
          </a:xfrm>
          <a:prstGeom prst="rect">
            <a:avLst/>
          </a:prstGeom>
          <a:noFill/>
        </p:spPr>
        <p:txBody>
          <a:bodyPr wrap="square">
            <a:spAutoFit/>
          </a:bodyPr>
          <a:lstStyle/>
          <a:p>
            <a:pPr algn="l">
              <a:defRPr sz="2000" b="0">
                <a:solidFill>
                  <a:srgbClr val="CCCCCC"/>
                </a:solidFill>
                <a:latin typeface="Arial"/>
              </a:defRPr>
            </a:pPr>
            <a:r>
              <a:t>Principle 1</a:t>
            </a:r>
          </a:p>
        </p:txBody>
      </p:sp>
      <p:sp>
        <p:nvSpPr>
          <p:cNvPr id="4" name="TextBox 3"/>
          <p:cNvSpPr txBox="1"/>
          <p:nvPr/>
        </p:nvSpPr>
        <p:spPr>
          <a:xfrm>
            <a:off x="731520" y="822960"/>
            <a:ext cx="10058400" cy="731520"/>
          </a:xfrm>
          <a:prstGeom prst="rect">
            <a:avLst/>
          </a:prstGeom>
          <a:noFill/>
        </p:spPr>
        <p:txBody>
          <a:bodyPr wrap="square">
            <a:spAutoFit/>
          </a:bodyPr>
          <a:lstStyle/>
          <a:p>
            <a:pPr algn="l">
              <a:defRPr sz="3600" b="1">
                <a:solidFill>
                  <a:srgbClr val="FFFFFF"/>
                </a:solidFill>
                <a:latin typeface="Arial"/>
              </a:defRPr>
            </a:pPr>
            <a:r>
              <a:t>🧠  Treat It as an Intelligence</a:t>
            </a:r>
          </a:p>
        </p:txBody>
      </p:sp>
      <p:sp>
        <p:nvSpPr>
          <p:cNvPr id="5" name="TextBox 4"/>
          <p:cNvSpPr txBox="1"/>
          <p:nvPr/>
        </p:nvSpPr>
        <p:spPr>
          <a:xfrm>
            <a:off x="731520" y="1737360"/>
            <a:ext cx="10515600" cy="640080"/>
          </a:xfrm>
          <a:prstGeom prst="rect">
            <a:avLst/>
          </a:prstGeom>
          <a:solidFill>
            <a:srgbClr val="00351A"/>
          </a:solidFill>
        </p:spPr>
        <p:txBody>
          <a:bodyPr wrap="none">
            <a:spAutoFit/>
          </a:bodyPr>
          <a:lstStyle/>
          <a:p>
            <a:pPr>
              <a:defRPr sz="2000">
                <a:solidFill>
                  <a:srgbClr val="DEC6A2"/>
                </a:solidFill>
                <a:latin typeface="Arial"/>
              </a:defRPr>
            </a:pPr>
            <a:r>
              <a:t>It reasons. Give it context, domain knowledge, and specifics.</a:t>
            </a:r>
          </a:p>
        </p:txBody>
      </p:sp>
      <p:sp>
        <p:nvSpPr>
          <p:cNvPr id="6" name="TextBox 5"/>
          <p:cNvSpPr txBox="1"/>
          <p:nvPr/>
        </p:nvSpPr>
        <p:spPr>
          <a:xfrm>
            <a:off x="1097280" y="274320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Provide domain context — </a:t>
            </a:r>
            <a:r>
              <a:rPr sz="1700">
                <a:solidFill>
                  <a:srgbClr val="FFFFFF"/>
                </a:solidFill>
                <a:latin typeface="Arial"/>
              </a:rPr>
              <a:t>"I'm analysing Sentinel-2 imagery for land cover classification in tropical forests"</a:t>
            </a:r>
          </a:p>
        </p:txBody>
      </p:sp>
      <p:sp>
        <p:nvSpPr>
          <p:cNvPr id="7" name="TextBox 6"/>
          <p:cNvSpPr txBox="1"/>
          <p:nvPr/>
        </p:nvSpPr>
        <p:spPr>
          <a:xfrm>
            <a:off x="1097280" y="333756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Be specific — </a:t>
            </a:r>
            <a:r>
              <a:rPr sz="1700">
                <a:solidFill>
                  <a:srgbClr val="FFFFFF"/>
                </a:solidFill>
                <a:latin typeface="Arial"/>
              </a:rPr>
              <a:t>"Use the SCL band to mask clouds, not QA60" rather than "remove clouds"</a:t>
            </a:r>
          </a:p>
        </p:txBody>
      </p:sp>
      <p:sp>
        <p:nvSpPr>
          <p:cNvPr id="8" name="TextBox 7"/>
          <p:cNvSpPr txBox="1"/>
          <p:nvPr/>
        </p:nvSpPr>
        <p:spPr>
          <a:xfrm>
            <a:off x="1097280" y="393192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Share your constraints — </a:t>
            </a:r>
            <a:r>
              <a:rPr sz="1700">
                <a:solidFill>
                  <a:srgbClr val="FFFFFF"/>
                </a:solidFill>
                <a:latin typeface="Arial"/>
              </a:rPr>
              <a:t>memory limits, time series length, study area extent</a:t>
            </a:r>
          </a:p>
        </p:txBody>
      </p:sp>
      <p:sp>
        <p:nvSpPr>
          <p:cNvPr id="9" name="TextBox 8"/>
          <p:cNvSpPr txBox="1"/>
          <p:nvPr/>
        </p:nvSpPr>
        <p:spPr>
          <a:xfrm>
            <a:off x="1097280" y="452628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Don't treat it like a search bar — </a:t>
            </a:r>
            <a:r>
              <a:rPr sz="1700">
                <a:solidFill>
                  <a:srgbClr val="FFFFFF"/>
                </a:solidFill>
                <a:latin typeface="Arial"/>
              </a:rPr>
              <a:t>it can reason through multi-step problems if you frame them well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365760"/>
            <a:ext cx="4572000" cy="457200"/>
          </a:xfrm>
          <a:prstGeom prst="rect">
            <a:avLst/>
          </a:prstGeom>
          <a:noFill/>
        </p:spPr>
        <p:txBody>
          <a:bodyPr wrap="square">
            <a:spAutoFit/>
          </a:bodyPr>
          <a:lstStyle/>
          <a:p>
            <a:pPr algn="l">
              <a:defRPr sz="2000" b="0">
                <a:solidFill>
                  <a:srgbClr val="CCCCCC"/>
                </a:solidFill>
                <a:latin typeface="Arial"/>
              </a:defRPr>
            </a:pPr>
            <a:r>
              <a:t>Principle 2</a:t>
            </a:r>
          </a:p>
        </p:txBody>
      </p:sp>
      <p:sp>
        <p:nvSpPr>
          <p:cNvPr id="4" name="TextBox 3"/>
          <p:cNvSpPr txBox="1"/>
          <p:nvPr/>
        </p:nvSpPr>
        <p:spPr>
          <a:xfrm>
            <a:off x="731520" y="822960"/>
            <a:ext cx="10058400" cy="731520"/>
          </a:xfrm>
          <a:prstGeom prst="rect">
            <a:avLst/>
          </a:prstGeom>
          <a:noFill/>
        </p:spPr>
        <p:txBody>
          <a:bodyPr wrap="square">
            <a:spAutoFit/>
          </a:bodyPr>
          <a:lstStyle/>
          <a:p>
            <a:pPr algn="l">
              <a:defRPr sz="3600" b="1">
                <a:solidFill>
                  <a:srgbClr val="FFFFFF"/>
                </a:solidFill>
                <a:latin typeface="Arial"/>
              </a:defRPr>
            </a:pPr>
            <a:r>
              <a:t>🔍  Distrust by Default</a:t>
            </a:r>
          </a:p>
        </p:txBody>
      </p:sp>
      <p:sp>
        <p:nvSpPr>
          <p:cNvPr id="5" name="TextBox 4"/>
          <p:cNvSpPr txBox="1"/>
          <p:nvPr/>
        </p:nvSpPr>
        <p:spPr>
          <a:xfrm>
            <a:off x="731520" y="1737360"/>
            <a:ext cx="10515600" cy="640080"/>
          </a:xfrm>
          <a:prstGeom prst="rect">
            <a:avLst/>
          </a:prstGeom>
          <a:solidFill>
            <a:srgbClr val="00351A"/>
          </a:solidFill>
        </p:spPr>
        <p:txBody>
          <a:bodyPr wrap="none">
            <a:spAutoFit/>
          </a:bodyPr>
          <a:lstStyle/>
          <a:p>
            <a:pPr>
              <a:defRPr sz="2000">
                <a:solidFill>
                  <a:srgbClr val="DEC6A2"/>
                </a:solidFill>
                <a:latin typeface="Arial"/>
              </a:defRPr>
            </a:pPr>
            <a:r>
              <a:t>Assume output is plausible but wrong until verified.</a:t>
            </a:r>
          </a:p>
        </p:txBody>
      </p:sp>
      <p:sp>
        <p:nvSpPr>
          <p:cNvPr id="6" name="TextBox 5"/>
          <p:cNvSpPr txBox="1"/>
          <p:nvPr/>
        </p:nvSpPr>
        <p:spPr>
          <a:xfrm>
            <a:off x="1097280" y="274320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It will invent — </a:t>
            </a:r>
            <a:r>
              <a:rPr sz="1700">
                <a:solidFill>
                  <a:srgbClr val="FFFFFF"/>
                </a:solidFill>
                <a:latin typeface="Arial"/>
              </a:rPr>
              <a:t>function names, band names, and API calls that don't exist</a:t>
            </a:r>
          </a:p>
        </p:txBody>
      </p:sp>
      <p:sp>
        <p:nvSpPr>
          <p:cNvPr id="7" name="TextBox 6"/>
          <p:cNvSpPr txBox="1"/>
          <p:nvPr/>
        </p:nvSpPr>
        <p:spPr>
          <a:xfrm>
            <a:off x="1097280" y="333756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It will produce code that looks correct — </a:t>
            </a:r>
            <a:r>
              <a:rPr sz="1700">
                <a:solidFill>
                  <a:srgbClr val="FFFFFF"/>
                </a:solidFill>
                <a:latin typeface="Arial"/>
              </a:rPr>
              <a:t>but has subtle logical errors</a:t>
            </a:r>
          </a:p>
        </p:txBody>
      </p:sp>
      <p:sp>
        <p:nvSpPr>
          <p:cNvPr id="8" name="TextBox 7"/>
          <p:cNvSpPr txBox="1"/>
          <p:nvPr/>
        </p:nvSpPr>
        <p:spPr>
          <a:xfrm>
            <a:off x="1097280" y="393192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It will present wrong answers — </a:t>
            </a:r>
            <a:r>
              <a:rPr sz="1700">
                <a:solidFill>
                  <a:srgbClr val="FFFFFF"/>
                </a:solidFill>
                <a:latin typeface="Arial"/>
              </a:rPr>
              <a:t>with complete confidence</a:t>
            </a:r>
          </a:p>
        </p:txBody>
      </p:sp>
      <p:sp>
        <p:nvSpPr>
          <p:cNvPr id="9" name="TextBox 8"/>
          <p:cNvSpPr txBox="1"/>
          <p:nvPr/>
        </p:nvSpPr>
        <p:spPr>
          <a:xfrm>
            <a:off x="1371600" y="4709160"/>
            <a:ext cx="9144000" cy="548640"/>
          </a:xfrm>
          <a:prstGeom prst="rect">
            <a:avLst/>
          </a:prstGeom>
          <a:noFill/>
        </p:spPr>
        <p:txBody>
          <a:bodyPr wrap="square">
            <a:spAutoFit/>
          </a:bodyPr>
          <a:lstStyle/>
          <a:p>
            <a:pPr algn="ctr">
              <a:defRPr sz="1600" b="0">
                <a:solidFill>
                  <a:srgbClr val="C7F700"/>
                </a:solidFill>
                <a:latin typeface="Arial"/>
              </a:defRPr>
            </a:pPr>
            <a:r>
              <a:t>🎭 Think of it as a very keen but unreliable junior colleague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365760"/>
            <a:ext cx="4572000" cy="457200"/>
          </a:xfrm>
          <a:prstGeom prst="rect">
            <a:avLst/>
          </a:prstGeom>
          <a:noFill/>
        </p:spPr>
        <p:txBody>
          <a:bodyPr wrap="square">
            <a:spAutoFit/>
          </a:bodyPr>
          <a:lstStyle/>
          <a:p>
            <a:pPr algn="l">
              <a:defRPr sz="2000" b="0">
                <a:solidFill>
                  <a:srgbClr val="CCCCCC"/>
                </a:solidFill>
                <a:latin typeface="Arial"/>
              </a:defRPr>
            </a:pPr>
            <a:r>
              <a:t>Principle 3</a:t>
            </a:r>
          </a:p>
        </p:txBody>
      </p:sp>
      <p:sp>
        <p:nvSpPr>
          <p:cNvPr id="4" name="TextBox 3"/>
          <p:cNvSpPr txBox="1"/>
          <p:nvPr/>
        </p:nvSpPr>
        <p:spPr>
          <a:xfrm>
            <a:off x="731520" y="822960"/>
            <a:ext cx="10058400" cy="731520"/>
          </a:xfrm>
          <a:prstGeom prst="rect">
            <a:avLst/>
          </a:prstGeom>
          <a:noFill/>
        </p:spPr>
        <p:txBody>
          <a:bodyPr wrap="square">
            <a:spAutoFit/>
          </a:bodyPr>
          <a:lstStyle/>
          <a:p>
            <a:pPr algn="l">
              <a:defRPr sz="3600" b="1">
                <a:solidFill>
                  <a:srgbClr val="FFFFFF"/>
                </a:solidFill>
                <a:latin typeface="Arial"/>
              </a:defRPr>
            </a:pPr>
            <a:r>
              <a:t>✅  Verify with Tests</a:t>
            </a:r>
          </a:p>
        </p:txBody>
      </p:sp>
      <p:sp>
        <p:nvSpPr>
          <p:cNvPr id="5" name="TextBox 4"/>
          <p:cNvSpPr txBox="1"/>
          <p:nvPr/>
        </p:nvSpPr>
        <p:spPr>
          <a:xfrm>
            <a:off x="731520" y="1737360"/>
            <a:ext cx="10515600" cy="640080"/>
          </a:xfrm>
          <a:prstGeom prst="rect">
            <a:avLst/>
          </a:prstGeom>
          <a:solidFill>
            <a:srgbClr val="00351A"/>
          </a:solidFill>
        </p:spPr>
        <p:txBody>
          <a:bodyPr wrap="none">
            <a:spAutoFit/>
          </a:bodyPr>
          <a:lstStyle/>
          <a:p>
            <a:pPr>
              <a:defRPr sz="2000">
                <a:solidFill>
                  <a:srgbClr val="DEC6A2"/>
                </a:solidFill>
                <a:latin typeface="Arial"/>
              </a:defRPr>
            </a:pPr>
            <a:r>
              <a:t>If you can't test it, you can't trust it.</a:t>
            </a:r>
          </a:p>
        </p:txBody>
      </p:sp>
      <p:sp>
        <p:nvSpPr>
          <p:cNvPr id="6" name="TextBox 5"/>
          <p:cNvSpPr txBox="1"/>
          <p:nvPr/>
        </p:nvSpPr>
        <p:spPr>
          <a:xfrm>
            <a:off x="1097280" y="274320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Write unit tests — </a:t>
            </a:r>
            <a:r>
              <a:rPr sz="1700">
                <a:solidFill>
                  <a:srgbClr val="FFFFFF"/>
                </a:solidFill>
                <a:latin typeface="Arial"/>
              </a:rPr>
              <a:t>test individual functions with known inputs and expected outputs</a:t>
            </a:r>
          </a:p>
        </p:txBody>
      </p:sp>
      <p:sp>
        <p:nvSpPr>
          <p:cNvPr id="7" name="TextBox 6"/>
          <p:cNvSpPr txBox="1"/>
          <p:nvPr/>
        </p:nvSpPr>
        <p:spPr>
          <a:xfrm>
            <a:off x="1097280" y="333756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Check edge cases — </a:t>
            </a:r>
            <a:r>
              <a:rPr sz="1700">
                <a:solidFill>
                  <a:srgbClr val="FFFFFF"/>
                </a:solidFill>
                <a:latin typeface="Arial"/>
              </a:rPr>
              <a:t>empty collections, null geometries, single-pixel regions</a:t>
            </a:r>
          </a:p>
        </p:txBody>
      </p:sp>
      <p:sp>
        <p:nvSpPr>
          <p:cNvPr id="8" name="TextBox 7"/>
          <p:cNvSpPr txBox="1"/>
          <p:nvPr/>
        </p:nvSpPr>
        <p:spPr>
          <a:xfrm>
            <a:off x="1097280" y="393192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Validate against known answers — </a:t>
            </a:r>
            <a:r>
              <a:rPr sz="1700">
                <a:solidFill>
                  <a:srgbClr val="FFFFFF"/>
                </a:solidFill>
                <a:latin typeface="Arial"/>
              </a:rPr>
              <a:t>use published datasets, manual calculations, or sanity checks</a:t>
            </a:r>
          </a:p>
        </p:txBody>
      </p:sp>
      <p:sp>
        <p:nvSpPr>
          <p:cNvPr id="9" name="TextBox 8"/>
          <p:cNvSpPr txBox="1"/>
          <p:nvPr/>
        </p:nvSpPr>
        <p:spPr>
          <a:xfrm>
            <a:off x="1097280" y="452628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Ask AI to write tests too — </a:t>
            </a:r>
            <a:r>
              <a:rPr sz="1700">
                <a:solidFill>
                  <a:srgbClr val="FFFFFF"/>
                </a:solidFill>
                <a:latin typeface="Arial"/>
              </a:rPr>
              <a:t>then verify the tests themselves!</a:t>
            </a:r>
          </a:p>
        </p:txBody>
      </p:sp>
      <p:sp>
        <p:nvSpPr>
          <p:cNvPr id="10" name="TextBox 9"/>
          <p:cNvSpPr txBox="1"/>
          <p:nvPr/>
        </p:nvSpPr>
        <p:spPr>
          <a:xfrm>
            <a:off x="1371600" y="5303520"/>
            <a:ext cx="9144000" cy="548640"/>
          </a:xfrm>
          <a:prstGeom prst="rect">
            <a:avLst/>
          </a:prstGeom>
          <a:noFill/>
        </p:spPr>
        <p:txBody>
          <a:bodyPr wrap="square">
            <a:spAutoFit/>
          </a:bodyPr>
          <a:lstStyle/>
          <a:p>
            <a:pPr algn="ctr">
              <a:defRPr sz="1600" b="0">
                <a:solidFill>
                  <a:srgbClr val="C7F700"/>
                </a:solidFill>
                <a:latin typeface="Arial"/>
              </a:defRPr>
            </a:pPr>
            <a:r>
              <a:t>💡 Generate code and tests separately, then check they agree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365760"/>
            <a:ext cx="4572000" cy="457200"/>
          </a:xfrm>
          <a:prstGeom prst="rect">
            <a:avLst/>
          </a:prstGeom>
          <a:noFill/>
        </p:spPr>
        <p:txBody>
          <a:bodyPr wrap="square">
            <a:spAutoFit/>
          </a:bodyPr>
          <a:lstStyle/>
          <a:p>
            <a:pPr algn="l">
              <a:defRPr sz="2000" b="0">
                <a:solidFill>
                  <a:srgbClr val="CCCCCC"/>
                </a:solidFill>
                <a:latin typeface="Arial"/>
              </a:defRPr>
            </a:pPr>
            <a:r>
              <a:t>Principle 4</a:t>
            </a:r>
          </a:p>
        </p:txBody>
      </p:sp>
      <p:sp>
        <p:nvSpPr>
          <p:cNvPr id="4" name="TextBox 3"/>
          <p:cNvSpPr txBox="1"/>
          <p:nvPr/>
        </p:nvSpPr>
        <p:spPr>
          <a:xfrm>
            <a:off x="731520" y="822960"/>
            <a:ext cx="10058400" cy="731520"/>
          </a:xfrm>
          <a:prstGeom prst="rect">
            <a:avLst/>
          </a:prstGeom>
          <a:noFill/>
        </p:spPr>
        <p:txBody>
          <a:bodyPr wrap="square">
            <a:spAutoFit/>
          </a:bodyPr>
          <a:lstStyle/>
          <a:p>
            <a:pPr algn="l">
              <a:defRPr sz="3600" b="1">
                <a:solidFill>
                  <a:srgbClr val="FFFFFF"/>
                </a:solidFill>
                <a:latin typeface="Arial"/>
              </a:defRPr>
            </a:pPr>
            <a:r>
              <a:t>📖  Prioritise Reporting &amp; Interpretation</a:t>
            </a:r>
          </a:p>
        </p:txBody>
      </p:sp>
      <p:sp>
        <p:nvSpPr>
          <p:cNvPr id="5" name="TextBox 4"/>
          <p:cNvSpPr txBox="1"/>
          <p:nvPr/>
        </p:nvSpPr>
        <p:spPr>
          <a:xfrm>
            <a:off x="731520" y="1737360"/>
            <a:ext cx="10515600" cy="640080"/>
          </a:xfrm>
          <a:prstGeom prst="rect">
            <a:avLst/>
          </a:prstGeom>
          <a:solidFill>
            <a:srgbClr val="00351A"/>
          </a:solidFill>
        </p:spPr>
        <p:txBody>
          <a:bodyPr wrap="none">
            <a:spAutoFit/>
          </a:bodyPr>
          <a:lstStyle/>
          <a:p>
            <a:pPr>
              <a:defRPr sz="2000">
                <a:solidFill>
                  <a:srgbClr val="DEC6A2"/>
                </a:solidFill>
                <a:latin typeface="Arial"/>
              </a:defRPr>
            </a:pPr>
            <a:r>
              <a:t>Don't just run code — understand what it does.</a:t>
            </a:r>
          </a:p>
        </p:txBody>
      </p:sp>
      <p:sp>
        <p:nvSpPr>
          <p:cNvPr id="6" name="TextBox 5"/>
          <p:cNvSpPr txBox="1"/>
          <p:nvPr/>
        </p:nvSpPr>
        <p:spPr>
          <a:xfrm>
            <a:off x="1097280" y="274320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Can you explain every line? — </a:t>
            </a:r>
            <a:r>
              <a:rPr sz="1700">
                <a:solidFill>
                  <a:srgbClr val="FFFFFF"/>
                </a:solidFill>
                <a:latin typeface="Arial"/>
              </a:rPr>
              <a:t>If not, you don't understand your analysis</a:t>
            </a:r>
          </a:p>
        </p:txBody>
      </p:sp>
      <p:sp>
        <p:nvSpPr>
          <p:cNvPr id="7" name="TextBox 6"/>
          <p:cNvSpPr txBox="1"/>
          <p:nvPr/>
        </p:nvSpPr>
        <p:spPr>
          <a:xfrm>
            <a:off x="1097280" y="333756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Document assumptions — </a:t>
            </a:r>
            <a:r>
              <a:rPr sz="1700">
                <a:solidFill>
                  <a:srgbClr val="FFFFFF"/>
                </a:solidFill>
                <a:latin typeface="Arial"/>
              </a:rPr>
              <a:t>why this reducer? Why this scale? Why this time period?</a:t>
            </a:r>
          </a:p>
        </p:txBody>
      </p:sp>
      <p:sp>
        <p:nvSpPr>
          <p:cNvPr id="8" name="TextBox 7"/>
          <p:cNvSpPr txBox="1"/>
          <p:nvPr/>
        </p:nvSpPr>
        <p:spPr>
          <a:xfrm>
            <a:off x="1097280" y="393192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Interpret results critically — </a:t>
            </a:r>
            <a:r>
              <a:rPr sz="1700">
                <a:solidFill>
                  <a:srgbClr val="FFFFFF"/>
                </a:solidFill>
                <a:latin typeface="Arial"/>
              </a:rPr>
              <a:t>does the output make ecological sense?</a:t>
            </a:r>
          </a:p>
        </p:txBody>
      </p:sp>
      <p:sp>
        <p:nvSpPr>
          <p:cNvPr id="9" name="TextBox 8"/>
          <p:cNvSpPr txBox="1"/>
          <p:nvPr/>
        </p:nvSpPr>
        <p:spPr>
          <a:xfrm>
            <a:off x="1097280" y="452628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Write for your future self — </a:t>
            </a:r>
            <a:r>
              <a:rPr sz="1700">
                <a:solidFill>
                  <a:srgbClr val="FFFFFF"/>
                </a:solidFill>
                <a:latin typeface="Arial"/>
              </a:rPr>
              <a:t>add comments that explain why, not just what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365760"/>
            <a:ext cx="4572000" cy="457200"/>
          </a:xfrm>
          <a:prstGeom prst="rect">
            <a:avLst/>
          </a:prstGeom>
          <a:noFill/>
        </p:spPr>
        <p:txBody>
          <a:bodyPr wrap="square">
            <a:spAutoFit/>
          </a:bodyPr>
          <a:lstStyle/>
          <a:p>
            <a:pPr algn="l">
              <a:defRPr sz="2000" b="0">
                <a:solidFill>
                  <a:srgbClr val="CCCCCC"/>
                </a:solidFill>
                <a:latin typeface="Arial"/>
              </a:defRPr>
            </a:pPr>
            <a:r>
              <a:t>Principle 5</a:t>
            </a:r>
          </a:p>
        </p:txBody>
      </p:sp>
      <p:sp>
        <p:nvSpPr>
          <p:cNvPr id="4" name="TextBox 3"/>
          <p:cNvSpPr txBox="1"/>
          <p:nvPr/>
        </p:nvSpPr>
        <p:spPr>
          <a:xfrm>
            <a:off x="731520" y="822960"/>
            <a:ext cx="10058400" cy="731520"/>
          </a:xfrm>
          <a:prstGeom prst="rect">
            <a:avLst/>
          </a:prstGeom>
          <a:noFill/>
        </p:spPr>
        <p:txBody>
          <a:bodyPr wrap="square">
            <a:spAutoFit/>
          </a:bodyPr>
          <a:lstStyle/>
          <a:p>
            <a:pPr algn="l">
              <a:defRPr sz="3600" b="1">
                <a:solidFill>
                  <a:srgbClr val="FFFFFF"/>
                </a:solidFill>
                <a:latin typeface="Arial"/>
              </a:defRPr>
            </a:pPr>
            <a:r>
              <a:t>💥  Engineer Adversity</a:t>
            </a:r>
          </a:p>
        </p:txBody>
      </p:sp>
      <p:sp>
        <p:nvSpPr>
          <p:cNvPr id="5" name="TextBox 4"/>
          <p:cNvSpPr txBox="1"/>
          <p:nvPr/>
        </p:nvSpPr>
        <p:spPr>
          <a:xfrm>
            <a:off x="731520" y="1737360"/>
            <a:ext cx="10515600" cy="640080"/>
          </a:xfrm>
          <a:prstGeom prst="rect">
            <a:avLst/>
          </a:prstGeom>
          <a:solidFill>
            <a:srgbClr val="00351A"/>
          </a:solidFill>
        </p:spPr>
        <p:txBody>
          <a:bodyPr wrap="none">
            <a:spAutoFit/>
          </a:bodyPr>
          <a:lstStyle/>
          <a:p>
            <a:pPr>
              <a:defRPr sz="2000">
                <a:solidFill>
                  <a:srgbClr val="DEC6A2"/>
                </a:solidFill>
                <a:latin typeface="Arial"/>
              </a:defRPr>
            </a:pPr>
            <a:r>
              <a:t>Deliberately try to break your AI-generated code.</a:t>
            </a:r>
          </a:p>
        </p:txBody>
      </p:sp>
      <p:sp>
        <p:nvSpPr>
          <p:cNvPr id="6" name="TextBox 5"/>
          <p:cNvSpPr txBox="1"/>
          <p:nvPr/>
        </p:nvSpPr>
        <p:spPr>
          <a:xfrm>
            <a:off x="1097280" y="274320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Feed it bad inputs — </a:t>
            </a:r>
            <a:r>
              <a:rPr sz="1700">
                <a:solidFill>
                  <a:srgbClr val="FFFFFF"/>
                </a:solidFill>
                <a:latin typeface="Arial"/>
              </a:rPr>
              <a:t>wrong date formats, corrupted imagery, mismatched CRS</a:t>
            </a:r>
          </a:p>
        </p:txBody>
      </p:sp>
      <p:sp>
        <p:nvSpPr>
          <p:cNvPr id="7" name="TextBox 6"/>
          <p:cNvSpPr txBox="1"/>
          <p:nvPr/>
        </p:nvSpPr>
        <p:spPr>
          <a:xfrm>
            <a:off x="1097280" y="333756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Test edge cases — </a:t>
            </a:r>
            <a:r>
              <a:rPr sz="1700">
                <a:solidFill>
                  <a:srgbClr val="FFFFFF"/>
                </a:solidFill>
                <a:latin typeface="Arial"/>
              </a:rPr>
              <a:t>polar regions, date-line crossings, very large/small areas</a:t>
            </a:r>
          </a:p>
        </p:txBody>
      </p:sp>
      <p:sp>
        <p:nvSpPr>
          <p:cNvPr id="8" name="TextBox 7"/>
          <p:cNvSpPr txBox="1"/>
          <p:nvPr/>
        </p:nvSpPr>
        <p:spPr>
          <a:xfrm>
            <a:off x="1097280" y="393192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Try empty datasets — </a:t>
            </a:r>
            <a:r>
              <a:rPr sz="1700">
                <a:solidFill>
                  <a:srgbClr val="FFFFFF"/>
                </a:solidFill>
                <a:latin typeface="Arial"/>
              </a:rPr>
              <a:t>what happens when your filter returns zero images?</a:t>
            </a:r>
          </a:p>
        </p:txBody>
      </p:sp>
      <p:sp>
        <p:nvSpPr>
          <p:cNvPr id="9" name="TextBox 8"/>
          <p:cNvSpPr txBox="1"/>
          <p:nvPr/>
        </p:nvSpPr>
        <p:spPr>
          <a:xfrm>
            <a:off x="1097280" y="452628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If it breaks, it wasn't robust — </a:t>
            </a:r>
            <a:r>
              <a:rPr sz="1700">
                <a:solidFill>
                  <a:srgbClr val="FFFFFF"/>
                </a:solidFill>
                <a:latin typeface="Arial"/>
              </a:rPr>
              <a:t>and that's information you need before publication</a:t>
            </a:r>
          </a:p>
        </p:txBody>
      </p:sp>
      <p:sp>
        <p:nvSpPr>
          <p:cNvPr id="10" name="TextBox 9"/>
          <p:cNvSpPr txBox="1"/>
          <p:nvPr/>
        </p:nvSpPr>
        <p:spPr>
          <a:xfrm>
            <a:off x="1371600" y="5303520"/>
            <a:ext cx="9144000" cy="548640"/>
          </a:xfrm>
          <a:prstGeom prst="rect">
            <a:avLst/>
          </a:prstGeom>
          <a:noFill/>
        </p:spPr>
        <p:txBody>
          <a:bodyPr wrap="square">
            <a:spAutoFit/>
          </a:bodyPr>
          <a:lstStyle/>
          <a:p>
            <a:pPr algn="ctr">
              <a:defRPr sz="1600" b="0">
                <a:solidFill>
                  <a:srgbClr val="C7F700"/>
                </a:solidFill>
                <a:latin typeface="Arial"/>
              </a:defRPr>
            </a:pPr>
            <a:r>
              <a:t>🎯 Think like a hostile reviewer — what would they try?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365760"/>
            <a:ext cx="4572000" cy="457200"/>
          </a:xfrm>
          <a:prstGeom prst="rect">
            <a:avLst/>
          </a:prstGeom>
          <a:noFill/>
        </p:spPr>
        <p:txBody>
          <a:bodyPr wrap="square">
            <a:spAutoFit/>
          </a:bodyPr>
          <a:lstStyle/>
          <a:p>
            <a:pPr algn="l">
              <a:defRPr sz="2000" b="0">
                <a:solidFill>
                  <a:srgbClr val="CCCCCC"/>
                </a:solidFill>
                <a:latin typeface="Arial"/>
              </a:defRPr>
            </a:pPr>
            <a:r>
              <a:t>Principle 6</a:t>
            </a:r>
          </a:p>
        </p:txBody>
      </p:sp>
      <p:sp>
        <p:nvSpPr>
          <p:cNvPr id="4" name="TextBox 3"/>
          <p:cNvSpPr txBox="1"/>
          <p:nvPr/>
        </p:nvSpPr>
        <p:spPr>
          <a:xfrm>
            <a:off x="731520" y="822960"/>
            <a:ext cx="10058400" cy="731520"/>
          </a:xfrm>
          <a:prstGeom prst="rect">
            <a:avLst/>
          </a:prstGeom>
          <a:noFill/>
        </p:spPr>
        <p:txBody>
          <a:bodyPr wrap="square">
            <a:spAutoFit/>
          </a:bodyPr>
          <a:lstStyle/>
          <a:p>
            <a:pPr algn="l">
              <a:defRPr sz="3600" b="1">
                <a:solidFill>
                  <a:srgbClr val="FFFFFF"/>
                </a:solidFill>
                <a:latin typeface="Arial"/>
              </a:defRPr>
            </a:pPr>
            <a:r>
              <a:t>🔓  Maximise Transparency</a:t>
            </a:r>
          </a:p>
        </p:txBody>
      </p:sp>
      <p:sp>
        <p:nvSpPr>
          <p:cNvPr id="5" name="TextBox 4"/>
          <p:cNvSpPr txBox="1"/>
          <p:nvPr/>
        </p:nvSpPr>
        <p:spPr>
          <a:xfrm>
            <a:off x="731520" y="1737360"/>
            <a:ext cx="10515600" cy="640080"/>
          </a:xfrm>
          <a:prstGeom prst="rect">
            <a:avLst/>
          </a:prstGeom>
          <a:solidFill>
            <a:srgbClr val="00351A"/>
          </a:solidFill>
        </p:spPr>
        <p:txBody>
          <a:bodyPr wrap="none">
            <a:spAutoFit/>
          </a:bodyPr>
          <a:lstStyle/>
          <a:p>
            <a:pPr>
              <a:defRPr sz="2000">
                <a:solidFill>
                  <a:srgbClr val="DEC6A2"/>
                </a:solidFill>
                <a:latin typeface="Arial"/>
              </a:defRPr>
            </a:pPr>
            <a:r>
              <a:t>Document which parts are AI-generated and how.</a:t>
            </a:r>
          </a:p>
        </p:txBody>
      </p:sp>
      <p:sp>
        <p:nvSpPr>
          <p:cNvPr id="6" name="TextBox 5"/>
          <p:cNvSpPr txBox="1"/>
          <p:nvPr/>
        </p:nvSpPr>
        <p:spPr>
          <a:xfrm>
            <a:off x="1097280" y="274320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Log your prompts — </a:t>
            </a:r>
            <a:r>
              <a:rPr sz="1700">
                <a:solidFill>
                  <a:srgbClr val="FFFFFF"/>
                </a:solidFill>
                <a:latin typeface="Arial"/>
              </a:rPr>
              <a:t>save the conversations that generated your code</a:t>
            </a:r>
          </a:p>
        </p:txBody>
      </p:sp>
      <p:sp>
        <p:nvSpPr>
          <p:cNvPr id="7" name="TextBox 6"/>
          <p:cNvSpPr txBox="1"/>
          <p:nvPr/>
        </p:nvSpPr>
        <p:spPr>
          <a:xfrm>
            <a:off x="1097280" y="333756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Version your code — </a:t>
            </a:r>
            <a:r>
              <a:rPr sz="1700">
                <a:solidFill>
                  <a:srgbClr val="FFFFFF"/>
                </a:solidFill>
                <a:latin typeface="Arial"/>
              </a:rPr>
              <a:t>use Git; track the evolution from AI draft to final version</a:t>
            </a:r>
          </a:p>
        </p:txBody>
      </p:sp>
      <p:sp>
        <p:nvSpPr>
          <p:cNvPr id="8" name="TextBox 7"/>
          <p:cNvSpPr txBox="1"/>
          <p:nvPr/>
        </p:nvSpPr>
        <p:spPr>
          <a:xfrm>
            <a:off x="1097280" y="393192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Capture metadata — </a:t>
            </a:r>
            <a:r>
              <a:rPr sz="1700">
                <a:solidFill>
                  <a:srgbClr val="FFFFFF"/>
                </a:solidFill>
                <a:latin typeface="Arial"/>
              </a:rPr>
              <a:t>which model, which version, what date</a:t>
            </a:r>
          </a:p>
        </p:txBody>
      </p:sp>
      <p:sp>
        <p:nvSpPr>
          <p:cNvPr id="9" name="TextBox 8"/>
          <p:cNvSpPr txBox="1"/>
          <p:nvPr/>
        </p:nvSpPr>
        <p:spPr>
          <a:xfrm>
            <a:off x="1097280" y="4526280"/>
            <a:ext cx="9601200" cy="502920"/>
          </a:xfrm>
          <a:prstGeom prst="rect">
            <a:avLst/>
          </a:prstGeom>
          <a:noFill/>
        </p:spPr>
        <p:txBody>
          <a:bodyPr wrap="square">
            <a:spAutoFit/>
          </a:bodyPr>
          <a:lstStyle/>
          <a:p>
            <a:pPr algn="l">
              <a:defRPr sz="1700" b="0">
                <a:solidFill>
                  <a:srgbClr val="FFFFFF"/>
                </a:solidFill>
                <a:latin typeface="Arial"/>
              </a:defRPr>
            </a:pPr>
            <a:r>
              <a:rPr b="1" sz="1700">
                <a:solidFill>
                  <a:srgbClr val="C7F700"/>
                </a:solidFill>
                <a:latin typeface="Arial"/>
              </a:rPr>
              <a:t>Be honest in methods — </a:t>
            </a:r>
            <a:r>
              <a:rPr sz="1700">
                <a:solidFill>
                  <a:srgbClr val="FFFFFF"/>
                </a:solidFill>
                <a:latin typeface="Arial"/>
              </a:rPr>
              <a:t>"Code was initially generated using [model] and subsequently reviewed, tested, and modified by the authors"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365760"/>
            <a:ext cx="10058400" cy="731520"/>
          </a:xfrm>
          <a:prstGeom prst="rect">
            <a:avLst/>
          </a:prstGeom>
          <a:noFill/>
        </p:spPr>
        <p:txBody>
          <a:bodyPr wrap="square">
            <a:spAutoFit/>
          </a:bodyPr>
          <a:lstStyle/>
          <a:p>
            <a:pPr algn="l">
              <a:defRPr sz="4000" b="1">
                <a:solidFill>
                  <a:srgbClr val="FFFFFF"/>
                </a:solidFill>
                <a:latin typeface="Arial"/>
              </a:defRPr>
            </a:pPr>
            <a:r>
              <a:t>The Six Principles</a:t>
            </a:r>
          </a:p>
        </p:txBody>
      </p:sp>
      <p:sp>
        <p:nvSpPr>
          <p:cNvPr id="4" name="TextBox 3"/>
          <p:cNvSpPr txBox="1"/>
          <p:nvPr/>
        </p:nvSpPr>
        <p:spPr>
          <a:xfrm>
            <a:off x="731520" y="1005840"/>
            <a:ext cx="10058400" cy="457200"/>
          </a:xfrm>
          <a:prstGeom prst="rect">
            <a:avLst/>
          </a:prstGeom>
          <a:noFill/>
        </p:spPr>
        <p:txBody>
          <a:bodyPr wrap="square">
            <a:spAutoFit/>
          </a:bodyPr>
          <a:lstStyle/>
          <a:p>
            <a:pPr algn="l">
              <a:defRPr sz="2200" b="0">
                <a:solidFill>
                  <a:srgbClr val="C7F700"/>
                </a:solidFill>
                <a:latin typeface="Arial"/>
              </a:defRPr>
            </a:pPr>
            <a:r>
              <a:t>Your checklist for responsible AI coding</a:t>
            </a:r>
          </a:p>
        </p:txBody>
      </p:sp>
      <p:sp>
        <p:nvSpPr>
          <p:cNvPr id="5" name="TextBox 4"/>
          <p:cNvSpPr txBox="1"/>
          <p:nvPr/>
        </p:nvSpPr>
        <p:spPr>
          <a:xfrm>
            <a:off x="1097280" y="2011680"/>
            <a:ext cx="731520" cy="457200"/>
          </a:xfrm>
          <a:prstGeom prst="rect">
            <a:avLst/>
          </a:prstGeom>
          <a:noFill/>
        </p:spPr>
        <p:txBody>
          <a:bodyPr wrap="square">
            <a:spAutoFit/>
          </a:bodyPr>
          <a:lstStyle/>
          <a:p>
            <a:pPr algn="ctr">
              <a:defRPr sz="2400" b="0">
                <a:solidFill>
                  <a:srgbClr val="FFFFFF"/>
                </a:solidFill>
                <a:latin typeface="Arial"/>
              </a:defRPr>
            </a:pPr>
            <a:r>
              <a:t>🧠</a:t>
            </a:r>
          </a:p>
        </p:txBody>
      </p:sp>
      <p:sp>
        <p:nvSpPr>
          <p:cNvPr id="6" name="TextBox 5"/>
          <p:cNvSpPr txBox="1"/>
          <p:nvPr/>
        </p:nvSpPr>
        <p:spPr>
          <a:xfrm>
            <a:off x="2011680" y="2011680"/>
            <a:ext cx="4114800" cy="457200"/>
          </a:xfrm>
          <a:prstGeom prst="rect">
            <a:avLst/>
          </a:prstGeom>
          <a:noFill/>
        </p:spPr>
        <p:txBody>
          <a:bodyPr wrap="square">
            <a:spAutoFit/>
          </a:bodyPr>
          <a:lstStyle/>
          <a:p>
            <a:pPr algn="l">
              <a:defRPr sz="2000" b="1">
                <a:solidFill>
                  <a:srgbClr val="FFFFFF"/>
                </a:solidFill>
                <a:latin typeface="Arial"/>
              </a:defRPr>
            </a:pPr>
            <a:r>
              <a:t>1. Treat as Intelligence</a:t>
            </a:r>
          </a:p>
        </p:txBody>
      </p:sp>
      <p:sp>
        <p:nvSpPr>
          <p:cNvPr id="7" name="TextBox 6"/>
          <p:cNvSpPr txBox="1"/>
          <p:nvPr/>
        </p:nvSpPr>
        <p:spPr>
          <a:xfrm>
            <a:off x="6400800" y="2011680"/>
            <a:ext cx="4572000" cy="457200"/>
          </a:xfrm>
          <a:prstGeom prst="rect">
            <a:avLst/>
          </a:prstGeom>
          <a:noFill/>
        </p:spPr>
        <p:txBody>
          <a:bodyPr wrap="square">
            <a:spAutoFit/>
          </a:bodyPr>
          <a:lstStyle/>
          <a:p>
            <a:pPr algn="l">
              <a:defRPr sz="1800" b="0">
                <a:solidFill>
                  <a:srgbClr val="DEC6A2"/>
                </a:solidFill>
                <a:latin typeface="Arial"/>
              </a:defRPr>
            </a:pPr>
            <a:r>
              <a:t>Give context, be specific</a:t>
            </a:r>
          </a:p>
        </p:txBody>
      </p:sp>
      <p:sp>
        <p:nvSpPr>
          <p:cNvPr id="8" name="TextBox 7"/>
          <p:cNvSpPr txBox="1"/>
          <p:nvPr/>
        </p:nvSpPr>
        <p:spPr>
          <a:xfrm>
            <a:off x="1097280" y="2651760"/>
            <a:ext cx="731520" cy="457200"/>
          </a:xfrm>
          <a:prstGeom prst="rect">
            <a:avLst/>
          </a:prstGeom>
          <a:noFill/>
        </p:spPr>
        <p:txBody>
          <a:bodyPr wrap="square">
            <a:spAutoFit/>
          </a:bodyPr>
          <a:lstStyle/>
          <a:p>
            <a:pPr algn="ctr">
              <a:defRPr sz="2400" b="0">
                <a:solidFill>
                  <a:srgbClr val="FFFFFF"/>
                </a:solidFill>
                <a:latin typeface="Arial"/>
              </a:defRPr>
            </a:pPr>
            <a:r>
              <a:t>🔍</a:t>
            </a:r>
          </a:p>
        </p:txBody>
      </p:sp>
      <p:sp>
        <p:nvSpPr>
          <p:cNvPr id="9" name="TextBox 8"/>
          <p:cNvSpPr txBox="1"/>
          <p:nvPr/>
        </p:nvSpPr>
        <p:spPr>
          <a:xfrm>
            <a:off x="2011680" y="2651760"/>
            <a:ext cx="4114800" cy="457200"/>
          </a:xfrm>
          <a:prstGeom prst="rect">
            <a:avLst/>
          </a:prstGeom>
          <a:noFill/>
        </p:spPr>
        <p:txBody>
          <a:bodyPr wrap="square">
            <a:spAutoFit/>
          </a:bodyPr>
          <a:lstStyle/>
          <a:p>
            <a:pPr algn="l">
              <a:defRPr sz="2000" b="1">
                <a:solidFill>
                  <a:srgbClr val="FFFFFF"/>
                </a:solidFill>
                <a:latin typeface="Arial"/>
              </a:defRPr>
            </a:pPr>
            <a:r>
              <a:t>2. Distrust by Default</a:t>
            </a:r>
          </a:p>
        </p:txBody>
      </p:sp>
      <p:sp>
        <p:nvSpPr>
          <p:cNvPr id="10" name="TextBox 9"/>
          <p:cNvSpPr txBox="1"/>
          <p:nvPr/>
        </p:nvSpPr>
        <p:spPr>
          <a:xfrm>
            <a:off x="6400800" y="2651760"/>
            <a:ext cx="4572000" cy="457200"/>
          </a:xfrm>
          <a:prstGeom prst="rect">
            <a:avLst/>
          </a:prstGeom>
          <a:noFill/>
        </p:spPr>
        <p:txBody>
          <a:bodyPr wrap="square">
            <a:spAutoFit/>
          </a:bodyPr>
          <a:lstStyle/>
          <a:p>
            <a:pPr algn="l">
              <a:defRPr sz="1800" b="0">
                <a:solidFill>
                  <a:srgbClr val="DEC6A2"/>
                </a:solidFill>
                <a:latin typeface="Arial"/>
              </a:defRPr>
            </a:pPr>
            <a:r>
              <a:t>Assume wrong until verified</a:t>
            </a:r>
          </a:p>
        </p:txBody>
      </p:sp>
      <p:sp>
        <p:nvSpPr>
          <p:cNvPr id="11" name="TextBox 10"/>
          <p:cNvSpPr txBox="1"/>
          <p:nvPr/>
        </p:nvSpPr>
        <p:spPr>
          <a:xfrm>
            <a:off x="1097280" y="3291840"/>
            <a:ext cx="731520" cy="457200"/>
          </a:xfrm>
          <a:prstGeom prst="rect">
            <a:avLst/>
          </a:prstGeom>
          <a:noFill/>
        </p:spPr>
        <p:txBody>
          <a:bodyPr wrap="square">
            <a:spAutoFit/>
          </a:bodyPr>
          <a:lstStyle/>
          <a:p>
            <a:pPr algn="ctr">
              <a:defRPr sz="2400" b="0">
                <a:solidFill>
                  <a:srgbClr val="FFFFFF"/>
                </a:solidFill>
                <a:latin typeface="Arial"/>
              </a:defRPr>
            </a:pPr>
            <a:r>
              <a:t>✅</a:t>
            </a:r>
          </a:p>
        </p:txBody>
      </p:sp>
      <p:sp>
        <p:nvSpPr>
          <p:cNvPr id="12" name="TextBox 11"/>
          <p:cNvSpPr txBox="1"/>
          <p:nvPr/>
        </p:nvSpPr>
        <p:spPr>
          <a:xfrm>
            <a:off x="2011680" y="3291840"/>
            <a:ext cx="4114800" cy="457200"/>
          </a:xfrm>
          <a:prstGeom prst="rect">
            <a:avLst/>
          </a:prstGeom>
          <a:noFill/>
        </p:spPr>
        <p:txBody>
          <a:bodyPr wrap="square">
            <a:spAutoFit/>
          </a:bodyPr>
          <a:lstStyle/>
          <a:p>
            <a:pPr algn="l">
              <a:defRPr sz="2000" b="1">
                <a:solidFill>
                  <a:srgbClr val="FFFFFF"/>
                </a:solidFill>
                <a:latin typeface="Arial"/>
              </a:defRPr>
            </a:pPr>
            <a:r>
              <a:t>3. Verify with Tests</a:t>
            </a:r>
          </a:p>
        </p:txBody>
      </p:sp>
      <p:sp>
        <p:nvSpPr>
          <p:cNvPr id="13" name="TextBox 12"/>
          <p:cNvSpPr txBox="1"/>
          <p:nvPr/>
        </p:nvSpPr>
        <p:spPr>
          <a:xfrm>
            <a:off x="6400800" y="3291840"/>
            <a:ext cx="4572000" cy="457200"/>
          </a:xfrm>
          <a:prstGeom prst="rect">
            <a:avLst/>
          </a:prstGeom>
          <a:noFill/>
        </p:spPr>
        <p:txBody>
          <a:bodyPr wrap="square">
            <a:spAutoFit/>
          </a:bodyPr>
          <a:lstStyle/>
          <a:p>
            <a:pPr algn="l">
              <a:defRPr sz="1800" b="0">
                <a:solidFill>
                  <a:srgbClr val="DEC6A2"/>
                </a:solidFill>
                <a:latin typeface="Arial"/>
              </a:defRPr>
            </a:pPr>
            <a:r>
              <a:t>Can't test it? Can't trust it</a:t>
            </a:r>
          </a:p>
        </p:txBody>
      </p:sp>
      <p:sp>
        <p:nvSpPr>
          <p:cNvPr id="14" name="TextBox 13"/>
          <p:cNvSpPr txBox="1"/>
          <p:nvPr/>
        </p:nvSpPr>
        <p:spPr>
          <a:xfrm>
            <a:off x="1097280" y="3931920"/>
            <a:ext cx="731520" cy="457200"/>
          </a:xfrm>
          <a:prstGeom prst="rect">
            <a:avLst/>
          </a:prstGeom>
          <a:noFill/>
        </p:spPr>
        <p:txBody>
          <a:bodyPr wrap="square">
            <a:spAutoFit/>
          </a:bodyPr>
          <a:lstStyle/>
          <a:p>
            <a:pPr algn="ctr">
              <a:defRPr sz="2400" b="0">
                <a:solidFill>
                  <a:srgbClr val="FFFFFF"/>
                </a:solidFill>
                <a:latin typeface="Arial"/>
              </a:defRPr>
            </a:pPr>
            <a:r>
              <a:t>📖</a:t>
            </a:r>
          </a:p>
        </p:txBody>
      </p:sp>
      <p:sp>
        <p:nvSpPr>
          <p:cNvPr id="15" name="TextBox 14"/>
          <p:cNvSpPr txBox="1"/>
          <p:nvPr/>
        </p:nvSpPr>
        <p:spPr>
          <a:xfrm>
            <a:off x="2011680" y="3931920"/>
            <a:ext cx="4114800" cy="457200"/>
          </a:xfrm>
          <a:prstGeom prst="rect">
            <a:avLst/>
          </a:prstGeom>
          <a:noFill/>
        </p:spPr>
        <p:txBody>
          <a:bodyPr wrap="square">
            <a:spAutoFit/>
          </a:bodyPr>
          <a:lstStyle/>
          <a:p>
            <a:pPr algn="l">
              <a:defRPr sz="2000" b="1">
                <a:solidFill>
                  <a:srgbClr val="FFFFFF"/>
                </a:solidFill>
                <a:latin typeface="Arial"/>
              </a:defRPr>
            </a:pPr>
            <a:r>
              <a:t>4. Report &amp; Interpret</a:t>
            </a:r>
          </a:p>
        </p:txBody>
      </p:sp>
      <p:sp>
        <p:nvSpPr>
          <p:cNvPr id="16" name="TextBox 15"/>
          <p:cNvSpPr txBox="1"/>
          <p:nvPr/>
        </p:nvSpPr>
        <p:spPr>
          <a:xfrm>
            <a:off x="6400800" y="3931920"/>
            <a:ext cx="4572000" cy="457200"/>
          </a:xfrm>
          <a:prstGeom prst="rect">
            <a:avLst/>
          </a:prstGeom>
          <a:noFill/>
        </p:spPr>
        <p:txBody>
          <a:bodyPr wrap="square">
            <a:spAutoFit/>
          </a:bodyPr>
          <a:lstStyle/>
          <a:p>
            <a:pPr algn="l">
              <a:defRPr sz="1800" b="0">
                <a:solidFill>
                  <a:srgbClr val="DEC6A2"/>
                </a:solidFill>
                <a:latin typeface="Arial"/>
              </a:defRPr>
            </a:pPr>
            <a:r>
              <a:t>Understand every line</a:t>
            </a:r>
          </a:p>
        </p:txBody>
      </p:sp>
      <p:sp>
        <p:nvSpPr>
          <p:cNvPr id="17" name="TextBox 16"/>
          <p:cNvSpPr txBox="1"/>
          <p:nvPr/>
        </p:nvSpPr>
        <p:spPr>
          <a:xfrm>
            <a:off x="1097280" y="4572000"/>
            <a:ext cx="731520" cy="457200"/>
          </a:xfrm>
          <a:prstGeom prst="rect">
            <a:avLst/>
          </a:prstGeom>
          <a:noFill/>
        </p:spPr>
        <p:txBody>
          <a:bodyPr wrap="square">
            <a:spAutoFit/>
          </a:bodyPr>
          <a:lstStyle/>
          <a:p>
            <a:pPr algn="ctr">
              <a:defRPr sz="2400" b="0">
                <a:solidFill>
                  <a:srgbClr val="FFFFFF"/>
                </a:solidFill>
                <a:latin typeface="Arial"/>
              </a:defRPr>
            </a:pPr>
            <a:r>
              <a:t>💥</a:t>
            </a:r>
          </a:p>
        </p:txBody>
      </p:sp>
      <p:sp>
        <p:nvSpPr>
          <p:cNvPr id="18" name="TextBox 17"/>
          <p:cNvSpPr txBox="1"/>
          <p:nvPr/>
        </p:nvSpPr>
        <p:spPr>
          <a:xfrm>
            <a:off x="2011680" y="4572000"/>
            <a:ext cx="4114800" cy="457200"/>
          </a:xfrm>
          <a:prstGeom prst="rect">
            <a:avLst/>
          </a:prstGeom>
          <a:noFill/>
        </p:spPr>
        <p:txBody>
          <a:bodyPr wrap="square">
            <a:spAutoFit/>
          </a:bodyPr>
          <a:lstStyle/>
          <a:p>
            <a:pPr algn="l">
              <a:defRPr sz="2000" b="1">
                <a:solidFill>
                  <a:srgbClr val="FFFFFF"/>
                </a:solidFill>
                <a:latin typeface="Arial"/>
              </a:defRPr>
            </a:pPr>
            <a:r>
              <a:t>5. Engineer Adversity</a:t>
            </a:r>
          </a:p>
        </p:txBody>
      </p:sp>
      <p:sp>
        <p:nvSpPr>
          <p:cNvPr id="19" name="TextBox 18"/>
          <p:cNvSpPr txBox="1"/>
          <p:nvPr/>
        </p:nvSpPr>
        <p:spPr>
          <a:xfrm>
            <a:off x="6400800" y="4572000"/>
            <a:ext cx="4572000" cy="457200"/>
          </a:xfrm>
          <a:prstGeom prst="rect">
            <a:avLst/>
          </a:prstGeom>
          <a:noFill/>
        </p:spPr>
        <p:txBody>
          <a:bodyPr wrap="square">
            <a:spAutoFit/>
          </a:bodyPr>
          <a:lstStyle/>
          <a:p>
            <a:pPr algn="l">
              <a:defRPr sz="1800" b="0">
                <a:solidFill>
                  <a:srgbClr val="DEC6A2"/>
                </a:solidFill>
                <a:latin typeface="Arial"/>
              </a:defRPr>
            </a:pPr>
            <a:r>
              <a:t>Try to break it</a:t>
            </a:r>
          </a:p>
        </p:txBody>
      </p:sp>
      <p:sp>
        <p:nvSpPr>
          <p:cNvPr id="20" name="TextBox 19"/>
          <p:cNvSpPr txBox="1"/>
          <p:nvPr/>
        </p:nvSpPr>
        <p:spPr>
          <a:xfrm>
            <a:off x="1097280" y="5212080"/>
            <a:ext cx="731520" cy="457200"/>
          </a:xfrm>
          <a:prstGeom prst="rect">
            <a:avLst/>
          </a:prstGeom>
          <a:noFill/>
        </p:spPr>
        <p:txBody>
          <a:bodyPr wrap="square">
            <a:spAutoFit/>
          </a:bodyPr>
          <a:lstStyle/>
          <a:p>
            <a:pPr algn="ctr">
              <a:defRPr sz="2400" b="0">
                <a:solidFill>
                  <a:srgbClr val="FFFFFF"/>
                </a:solidFill>
                <a:latin typeface="Arial"/>
              </a:defRPr>
            </a:pPr>
            <a:r>
              <a:t>🔓</a:t>
            </a:r>
          </a:p>
        </p:txBody>
      </p:sp>
      <p:sp>
        <p:nvSpPr>
          <p:cNvPr id="21" name="TextBox 20"/>
          <p:cNvSpPr txBox="1"/>
          <p:nvPr/>
        </p:nvSpPr>
        <p:spPr>
          <a:xfrm>
            <a:off x="2011680" y="5212080"/>
            <a:ext cx="4114800" cy="457200"/>
          </a:xfrm>
          <a:prstGeom prst="rect">
            <a:avLst/>
          </a:prstGeom>
          <a:noFill/>
        </p:spPr>
        <p:txBody>
          <a:bodyPr wrap="square">
            <a:spAutoFit/>
          </a:bodyPr>
          <a:lstStyle/>
          <a:p>
            <a:pPr algn="l">
              <a:defRPr sz="2000" b="1">
                <a:solidFill>
                  <a:srgbClr val="FFFFFF"/>
                </a:solidFill>
                <a:latin typeface="Arial"/>
              </a:defRPr>
            </a:pPr>
            <a:r>
              <a:t>6. Maximise Transparency</a:t>
            </a:r>
          </a:p>
        </p:txBody>
      </p:sp>
      <p:sp>
        <p:nvSpPr>
          <p:cNvPr id="22" name="TextBox 21"/>
          <p:cNvSpPr txBox="1"/>
          <p:nvPr/>
        </p:nvSpPr>
        <p:spPr>
          <a:xfrm>
            <a:off x="6400800" y="5212080"/>
            <a:ext cx="4572000" cy="457200"/>
          </a:xfrm>
          <a:prstGeom prst="rect">
            <a:avLst/>
          </a:prstGeom>
          <a:noFill/>
        </p:spPr>
        <p:txBody>
          <a:bodyPr wrap="square">
            <a:spAutoFit/>
          </a:bodyPr>
          <a:lstStyle/>
          <a:p>
            <a:pPr algn="l">
              <a:defRPr sz="1800" b="0">
                <a:solidFill>
                  <a:srgbClr val="DEC6A2"/>
                </a:solidFill>
                <a:latin typeface="Arial"/>
              </a:defRPr>
            </a:pPr>
            <a:r>
              <a:t>Log, version, disclose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365760"/>
            <a:ext cx="10058400" cy="731520"/>
          </a:xfrm>
          <a:prstGeom prst="rect">
            <a:avLst/>
          </a:prstGeom>
          <a:noFill/>
        </p:spPr>
        <p:txBody>
          <a:bodyPr wrap="square">
            <a:spAutoFit/>
          </a:bodyPr>
          <a:lstStyle/>
          <a:p>
            <a:pPr algn="l">
              <a:defRPr sz="4000" b="1">
                <a:solidFill>
                  <a:srgbClr val="FFFFFF"/>
                </a:solidFill>
                <a:latin typeface="Arial"/>
              </a:defRPr>
            </a:pPr>
            <a:r>
              <a:t>⚠️  Real Failures</a:t>
            </a:r>
          </a:p>
        </p:txBody>
      </p:sp>
      <p:sp>
        <p:nvSpPr>
          <p:cNvPr id="4" name="TextBox 3"/>
          <p:cNvSpPr txBox="1"/>
          <p:nvPr/>
        </p:nvSpPr>
        <p:spPr>
          <a:xfrm>
            <a:off x="731520" y="1005840"/>
            <a:ext cx="10058400" cy="457200"/>
          </a:xfrm>
          <a:prstGeom prst="rect">
            <a:avLst/>
          </a:prstGeom>
          <a:noFill/>
        </p:spPr>
        <p:txBody>
          <a:bodyPr wrap="square">
            <a:spAutoFit/>
          </a:bodyPr>
          <a:lstStyle/>
          <a:p>
            <a:pPr algn="l">
              <a:defRPr sz="2200" b="0">
                <a:solidFill>
                  <a:srgbClr val="C7F700"/>
                </a:solidFill>
                <a:latin typeface="Arial"/>
              </a:defRPr>
            </a:pPr>
            <a:r>
              <a:t>Common AI mistakes in Google Earth Engine</a:t>
            </a:r>
          </a:p>
        </p:txBody>
      </p:sp>
      <p:sp>
        <p:nvSpPr>
          <p:cNvPr id="5" name="TextBox 4"/>
          <p:cNvSpPr txBox="1"/>
          <p:nvPr/>
        </p:nvSpPr>
        <p:spPr>
          <a:xfrm>
            <a:off x="914400" y="1828800"/>
            <a:ext cx="10332720" cy="1097280"/>
          </a:xfrm>
          <a:prstGeom prst="rect">
            <a:avLst/>
          </a:prstGeom>
          <a:solidFill>
            <a:srgbClr val="2D0A0A"/>
          </a:solidFill>
        </p:spPr>
        <p:txBody>
          <a:bodyPr wrap="square">
            <a:spAutoFit/>
          </a:bodyPr>
          <a:lstStyle/>
          <a:p>
            <a:pPr>
              <a:defRPr sz="1900" b="1">
                <a:solidFill>
                  <a:srgbClr val="FF6B6B"/>
                </a:solidFill>
                <a:latin typeface="Arial"/>
              </a:defRPr>
            </a:pPr>
            <a:r>
              <a:t>❌ Wrong Band Names</a:t>
            </a:r>
          </a:p>
          <a:p>
            <a:pPr>
              <a:spcBef>
                <a:spcPts val="400"/>
              </a:spcBef>
              <a:defRPr sz="1500">
                <a:solidFill>
                  <a:srgbClr val="CCCCCC"/>
                </a:solidFill>
                <a:latin typeface="Arial"/>
              </a:defRPr>
            </a:pPr>
            <a:r>
              <a:t>AI uses B4, B8 for Sentinel-2 surface reflectance — but the actual band names are SR_B4, SR_B8. Code runs without error but produces garbage.</a:t>
            </a:r>
          </a:p>
        </p:txBody>
      </p:sp>
      <p:sp>
        <p:nvSpPr>
          <p:cNvPr id="6" name="TextBox 5"/>
          <p:cNvSpPr txBox="1"/>
          <p:nvPr/>
        </p:nvSpPr>
        <p:spPr>
          <a:xfrm>
            <a:off x="914400" y="3291840"/>
            <a:ext cx="10332720" cy="1097280"/>
          </a:xfrm>
          <a:prstGeom prst="rect">
            <a:avLst/>
          </a:prstGeom>
          <a:solidFill>
            <a:srgbClr val="2D0A0A"/>
          </a:solidFill>
        </p:spPr>
        <p:txBody>
          <a:bodyPr wrap="square">
            <a:spAutoFit/>
          </a:bodyPr>
          <a:lstStyle/>
          <a:p>
            <a:pPr>
              <a:defRPr sz="1900" b="1">
                <a:solidFill>
                  <a:srgbClr val="FF6B6B"/>
                </a:solidFill>
                <a:latin typeface="Arial"/>
              </a:defRPr>
            </a:pPr>
            <a:r>
              <a:t>❌ Incorrect Scale</a:t>
            </a:r>
          </a:p>
          <a:p>
            <a:pPr>
              <a:spcBef>
                <a:spcPts val="400"/>
              </a:spcBef>
              <a:defRPr sz="1500">
                <a:solidFill>
                  <a:srgbClr val="CCCCCC"/>
                </a:solidFill>
                <a:latin typeface="Arial"/>
              </a:defRPr>
            </a:pPr>
            <a:r>
              <a:t>AI defaults to scale: 30 (Landsat) for Sentinel-2 analysis. Results are technically valid but scientifically wrong — resampled at the wrong resolution.</a:t>
            </a:r>
          </a:p>
        </p:txBody>
      </p:sp>
      <p:sp>
        <p:nvSpPr>
          <p:cNvPr id="7" name="TextBox 6"/>
          <p:cNvSpPr txBox="1"/>
          <p:nvPr/>
        </p:nvSpPr>
        <p:spPr>
          <a:xfrm>
            <a:off x="914400" y="4754880"/>
            <a:ext cx="10332720" cy="1097280"/>
          </a:xfrm>
          <a:prstGeom prst="rect">
            <a:avLst/>
          </a:prstGeom>
          <a:solidFill>
            <a:srgbClr val="2D0A0A"/>
          </a:solidFill>
        </p:spPr>
        <p:txBody>
          <a:bodyPr wrap="square">
            <a:spAutoFit/>
          </a:bodyPr>
          <a:lstStyle/>
          <a:p>
            <a:pPr>
              <a:defRPr sz="1900" b="1">
                <a:solidFill>
                  <a:srgbClr val="FF6B6B"/>
                </a:solidFill>
                <a:latin typeface="Arial"/>
              </a:defRPr>
            </a:pPr>
            <a:r>
              <a:t>❌ Misapplied Reducers</a:t>
            </a:r>
          </a:p>
          <a:p>
            <a:pPr>
              <a:spcBef>
                <a:spcPts val="400"/>
              </a:spcBef>
              <a:defRPr sz="1500">
                <a:solidFill>
                  <a:srgbClr val="CCCCCC"/>
                </a:solidFill>
                <a:latin typeface="Arial"/>
              </a:defRPr>
            </a:pPr>
            <a:r>
              <a:t>AI uses ee.Reducer.mean() where ee.Reducer.median() was needed for cloud-free compositing. Or applies a spatial reducer when a temporal reducer was intended.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731520" y="365760"/>
            <a:ext cx="10058400" cy="731520"/>
          </a:xfrm>
          <a:prstGeom prst="rect">
            <a:avLst/>
          </a:prstGeom>
          <a:noFill/>
        </p:spPr>
        <p:txBody>
          <a:bodyPr wrap="square">
            <a:spAutoFit/>
          </a:bodyPr>
          <a:lstStyle/>
          <a:p>
            <a:pPr algn="l">
              <a:defRPr sz="4000" b="1">
                <a:solidFill>
                  <a:srgbClr val="FFFFFF"/>
                </a:solidFill>
                <a:latin typeface="Arial"/>
              </a:defRPr>
            </a:pPr>
            <a:r>
              <a:t>🌍  Why This Matters</a:t>
            </a:r>
          </a:p>
        </p:txBody>
      </p:sp>
      <p:sp>
        <p:nvSpPr>
          <p:cNvPr id="4" name="TextBox 3"/>
          <p:cNvSpPr txBox="1"/>
          <p:nvPr/>
        </p:nvSpPr>
        <p:spPr>
          <a:xfrm>
            <a:off x="731520" y="1005840"/>
            <a:ext cx="10058400" cy="457200"/>
          </a:xfrm>
          <a:prstGeom prst="rect">
            <a:avLst/>
          </a:prstGeom>
          <a:noFill/>
        </p:spPr>
        <p:txBody>
          <a:bodyPr wrap="square">
            <a:spAutoFit/>
          </a:bodyPr>
          <a:lstStyle/>
          <a:p>
            <a:pPr algn="l">
              <a:defRPr sz="2200" b="0">
                <a:solidFill>
                  <a:srgbClr val="C7F700"/>
                </a:solidFill>
                <a:latin typeface="Arial"/>
              </a:defRPr>
            </a:pPr>
            <a:r>
              <a:t>For conservation science</a:t>
            </a:r>
          </a:p>
        </p:txBody>
      </p:sp>
      <p:sp>
        <p:nvSpPr>
          <p:cNvPr id="5" name="TextBox 4"/>
          <p:cNvSpPr txBox="1"/>
          <p:nvPr/>
        </p:nvSpPr>
        <p:spPr>
          <a:xfrm>
            <a:off x="1371600" y="1828800"/>
            <a:ext cx="9144000" cy="914400"/>
          </a:xfrm>
          <a:prstGeom prst="rect">
            <a:avLst/>
          </a:prstGeom>
          <a:solidFill>
            <a:srgbClr val="00351A"/>
          </a:solidFill>
        </p:spPr>
        <p:txBody>
          <a:bodyPr wrap="square">
            <a:spAutoFit/>
          </a:bodyPr>
          <a:lstStyle/>
          <a:p>
            <a:pPr algn="ctr">
              <a:defRPr sz="1800">
                <a:solidFill>
                  <a:srgbClr val="DEC6A2"/>
                </a:solidFill>
                <a:latin typeface="Arial"/>
              </a:defRPr>
            </a:pPr>
            <a:r>
              <a:t>Policy decisions depend on correct analysis.</a:t>
            </a:r>
            <a:br/>
            <a:r>
              <a:t>A bug in your deforestation script isn't just a software problem — it's a conservation problem.</a:t>
            </a:r>
          </a:p>
        </p:txBody>
      </p:sp>
      <p:sp>
        <p:nvSpPr>
          <p:cNvPr id="6" name="TextBox 5"/>
          <p:cNvSpPr txBox="1"/>
          <p:nvPr/>
        </p:nvSpPr>
        <p:spPr>
          <a:xfrm>
            <a:off x="1371600" y="3200400"/>
            <a:ext cx="9144000" cy="457200"/>
          </a:xfrm>
          <a:prstGeom prst="rect">
            <a:avLst/>
          </a:prstGeom>
          <a:noFill/>
        </p:spPr>
        <p:txBody>
          <a:bodyPr wrap="square">
            <a:spAutoFit/>
          </a:bodyPr>
          <a:lstStyle/>
          <a:p>
            <a:pPr algn="l">
              <a:defRPr sz="1800" b="0">
                <a:solidFill>
                  <a:srgbClr val="FFFFFF"/>
                </a:solidFill>
                <a:latin typeface="Arial"/>
              </a:defRPr>
            </a:pPr>
            <a:r>
              <a:t>🌳  Habitat loss estimates feed into protected area designations</a:t>
            </a:r>
          </a:p>
        </p:txBody>
      </p:sp>
      <p:sp>
        <p:nvSpPr>
          <p:cNvPr id="7" name="TextBox 6"/>
          <p:cNvSpPr txBox="1"/>
          <p:nvPr/>
        </p:nvSpPr>
        <p:spPr>
          <a:xfrm>
            <a:off x="1371600" y="3749039"/>
            <a:ext cx="9144000" cy="457200"/>
          </a:xfrm>
          <a:prstGeom prst="rect">
            <a:avLst/>
          </a:prstGeom>
          <a:noFill/>
        </p:spPr>
        <p:txBody>
          <a:bodyPr wrap="square">
            <a:spAutoFit/>
          </a:bodyPr>
          <a:lstStyle/>
          <a:p>
            <a:pPr algn="l">
              <a:defRPr sz="1800" b="0">
                <a:solidFill>
                  <a:srgbClr val="FFFFFF"/>
                </a:solidFill>
                <a:latin typeface="Arial"/>
              </a:defRPr>
            </a:pPr>
            <a:r>
              <a:t>🦁  Species distribution models inform IUCN Red List assessments</a:t>
            </a:r>
          </a:p>
        </p:txBody>
      </p:sp>
      <p:sp>
        <p:nvSpPr>
          <p:cNvPr id="8" name="TextBox 7"/>
          <p:cNvSpPr txBox="1"/>
          <p:nvPr/>
        </p:nvSpPr>
        <p:spPr>
          <a:xfrm>
            <a:off x="1371600" y="4297679"/>
            <a:ext cx="9144000" cy="457200"/>
          </a:xfrm>
          <a:prstGeom prst="rect">
            <a:avLst/>
          </a:prstGeom>
          <a:noFill/>
        </p:spPr>
        <p:txBody>
          <a:bodyPr wrap="square">
            <a:spAutoFit/>
          </a:bodyPr>
          <a:lstStyle/>
          <a:p>
            <a:pPr algn="l">
              <a:defRPr sz="1800" b="0">
                <a:solidFill>
                  <a:srgbClr val="FFFFFF"/>
                </a:solidFill>
                <a:latin typeface="Arial"/>
              </a:defRPr>
            </a:pPr>
            <a:r>
              <a:t>🔥  Fire severity maps guide post-disaster response and funding allocation</a:t>
            </a:r>
          </a:p>
        </p:txBody>
      </p:sp>
      <p:sp>
        <p:nvSpPr>
          <p:cNvPr id="9" name="TextBox 8"/>
          <p:cNvSpPr txBox="1"/>
          <p:nvPr/>
        </p:nvSpPr>
        <p:spPr>
          <a:xfrm>
            <a:off x="1371600" y="4846319"/>
            <a:ext cx="9144000" cy="457200"/>
          </a:xfrm>
          <a:prstGeom prst="rect">
            <a:avLst/>
          </a:prstGeom>
          <a:noFill/>
        </p:spPr>
        <p:txBody>
          <a:bodyPr wrap="square">
            <a:spAutoFit/>
          </a:bodyPr>
          <a:lstStyle/>
          <a:p>
            <a:pPr algn="l">
              <a:defRPr sz="1800" b="0">
                <a:solidFill>
                  <a:srgbClr val="FFFFFF"/>
                </a:solidFill>
                <a:latin typeface="Arial"/>
              </a:defRPr>
            </a:pPr>
            <a:r>
              <a:t>💰  Carbon stock estimates drive climate finance decisions worth millions</a:t>
            </a:r>
          </a:p>
        </p:txBody>
      </p:sp>
      <p:sp>
        <p:nvSpPr>
          <p:cNvPr id="10" name="TextBox 9"/>
          <p:cNvSpPr txBox="1"/>
          <p:nvPr/>
        </p:nvSpPr>
        <p:spPr>
          <a:xfrm>
            <a:off x="914400" y="5669279"/>
            <a:ext cx="10058400" cy="457200"/>
          </a:xfrm>
          <a:prstGeom prst="rect">
            <a:avLst/>
          </a:prstGeom>
          <a:noFill/>
        </p:spPr>
        <p:txBody>
          <a:bodyPr wrap="square">
            <a:spAutoFit/>
          </a:bodyPr>
          <a:lstStyle/>
          <a:p>
            <a:pPr algn="ctr">
              <a:defRPr sz="2000" b="1">
                <a:solidFill>
                  <a:srgbClr val="C7F700"/>
                </a:solidFill>
                <a:latin typeface="Arial"/>
              </a:defRPr>
            </a:pPr>
            <a:r>
              <a:t>The stakes are too high for unchecked AI-generated code.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2110"/>
        </a:solidFill>
        <a:effectLst/>
      </p:bgPr>
    </p:bg>
    <p:spTree>
      <p:nvGrpSpPr>
        <p:cNvPr id="1" name=""/>
        <p:cNvGrpSpPr/>
        <p:nvPr/>
      </p:nvGrpSpPr>
      <p:grpSpPr/>
      <p:pic>
        <p:nvPicPr>
          <p:cNvPr id="2" name="Picture 1" descr="zsl-ioz.png"/>
          <p:cNvPicPr>
            <a:picLocks noChangeAspect="1"/>
          </p:cNvPicPr>
          <p:nvPr/>
        </p:nvPicPr>
        <p:blipFill>
          <a:blip r:embed="rId2"/>
          <a:stretch>
            <a:fillRect/>
          </a:stretch>
        </p:blipFill>
        <p:spPr>
          <a:xfrm>
            <a:off x="10545775" y="228600"/>
            <a:ext cx="1371600" cy="1259875"/>
          </a:xfrm>
          <a:prstGeom prst="rect">
            <a:avLst/>
          </a:prstGeom>
        </p:spPr>
      </p:pic>
      <p:sp>
        <p:nvSpPr>
          <p:cNvPr id="3" name="TextBox 2"/>
          <p:cNvSpPr txBox="1"/>
          <p:nvPr/>
        </p:nvSpPr>
        <p:spPr>
          <a:xfrm>
            <a:off x="914400" y="1828800"/>
            <a:ext cx="10058400" cy="731520"/>
          </a:xfrm>
          <a:prstGeom prst="rect">
            <a:avLst/>
          </a:prstGeom>
          <a:noFill/>
        </p:spPr>
        <p:txBody>
          <a:bodyPr wrap="square">
            <a:spAutoFit/>
          </a:bodyPr>
          <a:lstStyle/>
          <a:p>
            <a:pPr algn="ctr">
              <a:defRPr sz="2800" b="0">
                <a:solidFill>
                  <a:srgbClr val="DEC6A2"/>
                </a:solidFill>
                <a:latin typeface="Arial"/>
              </a:defRPr>
            </a:pPr>
            <a:r>
              <a:t>Now let's put this</a:t>
            </a:r>
          </a:p>
        </p:txBody>
      </p:sp>
      <p:sp>
        <p:nvSpPr>
          <p:cNvPr id="4" name="TextBox 3"/>
          <p:cNvSpPr txBox="1"/>
          <p:nvPr/>
        </p:nvSpPr>
        <p:spPr>
          <a:xfrm>
            <a:off x="914400" y="2560320"/>
            <a:ext cx="10058400" cy="1097280"/>
          </a:xfrm>
          <a:prstGeom prst="rect">
            <a:avLst/>
          </a:prstGeom>
          <a:noFill/>
        </p:spPr>
        <p:txBody>
          <a:bodyPr wrap="square">
            <a:spAutoFit/>
          </a:bodyPr>
          <a:lstStyle/>
          <a:p>
            <a:pPr algn="ctr">
              <a:defRPr sz="6000" b="1">
                <a:solidFill>
                  <a:srgbClr val="C7F700"/>
                </a:solidFill>
                <a:latin typeface="Arial"/>
              </a:defRPr>
            </a:pPr>
            <a:r>
              <a:t>into practice</a:t>
            </a:r>
          </a:p>
        </p:txBody>
      </p:sp>
      <p:sp>
        <p:nvSpPr>
          <p:cNvPr id="5" name="TextBox 4"/>
          <p:cNvSpPr txBox="1"/>
          <p:nvPr/>
        </p:nvSpPr>
        <p:spPr>
          <a:xfrm>
            <a:off x="914400" y="4114800"/>
            <a:ext cx="10058400" cy="731520"/>
          </a:xfrm>
          <a:prstGeom prst="rect">
            <a:avLst/>
          </a:prstGeom>
          <a:noFill/>
        </p:spPr>
        <p:txBody>
          <a:bodyPr wrap="square">
            <a:spAutoFit/>
          </a:bodyPr>
          <a:lstStyle/>
          <a:p>
            <a:pPr algn="ctr">
              <a:defRPr sz="4800" b="0">
                <a:solidFill>
                  <a:srgbClr val="C7F700"/>
                </a:solidFill>
                <a:latin typeface="Arial"/>
              </a:defRPr>
            </a:pPr>
            <a:r>
              <a:t>→</a:t>
            </a:r>
          </a:p>
        </p:txBody>
      </p:sp>
      <p:sp>
        <p:nvSpPr>
          <p:cNvPr id="6" name="TextBox 5"/>
          <p:cNvSpPr txBox="1"/>
          <p:nvPr/>
        </p:nvSpPr>
        <p:spPr>
          <a:xfrm>
            <a:off x="914400" y="4846320"/>
            <a:ext cx="10058400" cy="457200"/>
          </a:xfrm>
          <a:prstGeom prst="rect">
            <a:avLst/>
          </a:prstGeom>
          <a:noFill/>
        </p:spPr>
        <p:txBody>
          <a:bodyPr wrap="square">
            <a:spAutoFit/>
          </a:bodyPr>
          <a:lstStyle/>
          <a:p>
            <a:pPr algn="ctr">
              <a:defRPr sz="2000" b="0">
                <a:solidFill>
                  <a:srgbClr val="CCCCCC"/>
                </a:solidFill>
                <a:latin typeface="Arial"/>
              </a:defRPr>
            </a:pPr>
            <a:r>
              <a:t>Hands-on practical session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